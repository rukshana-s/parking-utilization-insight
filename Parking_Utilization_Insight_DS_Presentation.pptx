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F172A"/>
                </a:solidFill>
                <a:latin typeface="Calibri"/>
              </a:defRPr>
            </a:pPr>
            <a:r>
              <a:rPr sz="1300" b="0" i="0" u="none" strike="noStrike">
                <a:solidFill>
                  <a:srgbClr val="0F172A"/>
                </a:solidFill>
                <a:latin typeface="Calibri"/>
              </a:rPr>
              <a:t>Parking sessions by zone</a:t>
            </a:r>
          </a:p>
        </c:rich>
      </c:tx>
      <c:overlay val="0"/>
    </c:title>
    <c:autoTitleDeleted val="0"/>
    <c:plotArea>
      <c:layout/>
      <c:barChart>
        <c:barDir val="bar"/>
        <c:grouping val="clustered"/>
        <c:varyColors val="0"/>
        <c:ser>
          <c:idx val="0"/>
          <c:order val="0"/>
          <c:tx>
            <c:strRef>
              <c:f>Sheet1!$B$1</c:f>
              <c:strCache>
                <c:ptCount val="1"/>
                <c:pt idx="0">
                  <c:v>Sessions</c:v>
                </c:pt>
              </c:strCache>
            </c:strRef>
          </c:tx>
          <c:spPr>
            <a:solidFill>
              <a:srgbClr val="2563EB"/>
            </a:solidFill>
            <a:effectLst/>
          </c:spPr>
          <c:invertIfNegative val="0"/>
          <c:dPt>
            <c:idx val="0"/>
            <c:invertIfNegative val="0"/>
            <c:bubble3D val="0"/>
            <c:extLst>
              <c:ext xmlns:c16="http://schemas.microsoft.com/office/drawing/2014/chart" uri="{C3380CC4-5D6E-409C-BE32-E72D297353CC}">
                <c16:uniqueId val="{00000001-BEF5-4A4D-9BA8-EC57C6B9F340}"/>
              </c:ext>
            </c:extLst>
          </c:dPt>
          <c:dPt>
            <c:idx val="1"/>
            <c:invertIfNegative val="0"/>
            <c:bubble3D val="0"/>
            <c:extLst>
              <c:ext xmlns:c16="http://schemas.microsoft.com/office/drawing/2014/chart" uri="{C3380CC4-5D6E-409C-BE32-E72D297353CC}">
                <c16:uniqueId val="{00000003-BEF5-4A4D-9BA8-EC57C6B9F340}"/>
              </c:ext>
            </c:extLst>
          </c:dPt>
          <c:dPt>
            <c:idx val="2"/>
            <c:invertIfNegative val="0"/>
            <c:bubble3D val="0"/>
            <c:spPr>
              <a:solidFill>
                <a:srgbClr val="06B6D4"/>
              </a:solidFill>
              <a:effectLst/>
            </c:spPr>
            <c:extLst>
              <c:ext xmlns:c16="http://schemas.microsoft.com/office/drawing/2014/chart" uri="{C3380CC4-5D6E-409C-BE32-E72D297353CC}">
                <c16:uniqueId val="{00000005-BEF5-4A4D-9BA8-EC57C6B9F340}"/>
              </c:ext>
            </c:extLst>
          </c:dPt>
          <c:dPt>
            <c:idx val="3"/>
            <c:invertIfNegative val="0"/>
            <c:bubble3D val="0"/>
            <c:spPr>
              <a:solidFill>
                <a:srgbClr val="22C55E"/>
              </a:solidFill>
              <a:effectLst/>
            </c:spPr>
            <c:extLst>
              <c:ext xmlns:c16="http://schemas.microsoft.com/office/drawing/2014/chart" uri="{C3380CC4-5D6E-409C-BE32-E72D297353CC}">
                <c16:uniqueId val="{00000007-BEF5-4A4D-9BA8-EC57C6B9F340}"/>
              </c:ext>
            </c:extLst>
          </c:dPt>
          <c:dPt>
            <c:idx val="4"/>
            <c:invertIfNegative val="0"/>
            <c:bubble3D val="0"/>
            <c:extLst>
              <c:ext xmlns:c16="http://schemas.microsoft.com/office/drawing/2014/chart" uri="{C3380CC4-5D6E-409C-BE32-E72D297353CC}">
                <c16:uniqueId val="{00000009-BEF5-4A4D-9BA8-EC57C6B9F340}"/>
              </c:ext>
            </c:extLst>
          </c:dPt>
          <c:dLbls>
            <c:numFmt formatCode="#,##0" sourceLinked="0"/>
            <c:spPr>
              <a:noFill/>
              <a:ln>
                <a:noFill/>
              </a:ln>
              <a:effectLst/>
            </c:spPr>
            <c:txPr>
              <a:bodyPr/>
              <a:lstStyle/>
              <a:p>
                <a:pPr>
                  <a:defRPr sz="1100" b="0" i="0" u="none" strike="noStrike">
                    <a:solidFill>
                      <a:srgbClr val="0F172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Zone A</c:v>
                </c:pt>
                <c:pt idx="1">
                  <c:v>Zone B</c:v>
                </c:pt>
                <c:pt idx="2">
                  <c:v>Zone C</c:v>
                </c:pt>
                <c:pt idx="3">
                  <c:v>Zone D</c:v>
                </c:pt>
                <c:pt idx="4">
                  <c:v>Zone E</c:v>
                </c:pt>
              </c:strCache>
            </c:strRef>
          </c:cat>
          <c:val>
            <c:numRef>
              <c:f>Sheet1!$B$2:$B$6</c:f>
              <c:numCache>
                <c:formatCode>General</c:formatCode>
                <c:ptCount val="5"/>
                <c:pt idx="0">
                  <c:v>104</c:v>
                </c:pt>
                <c:pt idx="1">
                  <c:v>93</c:v>
                </c:pt>
                <c:pt idx="2">
                  <c:v>89</c:v>
                </c:pt>
                <c:pt idx="3">
                  <c:v>105</c:v>
                </c:pt>
                <c:pt idx="4">
                  <c:v>101</c:v>
                </c:pt>
              </c:numCache>
            </c:numRef>
          </c:val>
          <c:extLst>
            <c:ext xmlns:c16="http://schemas.microsoft.com/office/drawing/2014/chart" uri="{C3380CC4-5D6E-409C-BE32-E72D297353CC}">
              <c16:uniqueId val="{0000000A-BEF5-4A4D-9BA8-EC57C6B9F340}"/>
            </c:ext>
          </c:extLst>
        </c:ser>
        <c:dLbls>
          <c:showLegendKey val="0"/>
          <c:showVal val="1"/>
          <c:showCatName val="0"/>
          <c:showSerName val="0"/>
          <c:showPercent val="0"/>
          <c:showBubbleSize val="0"/>
        </c:dLbls>
        <c:gapWidth val="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Calibri"/>
              </a:defRPr>
            </a:pPr>
            <a:endParaRPr lang="en-US"/>
          </a:p>
        </c:txPr>
        <c:crossAx val="2094734552"/>
        <c:crosses val="autoZero"/>
        <c:auto val="1"/>
        <c:lblAlgn val="ctr"/>
        <c:lblOffset val="100"/>
        <c:noMultiLvlLbl val="1"/>
      </c:catAx>
      <c:valAx>
        <c:axId val="2094734552"/>
        <c:scaling>
          <c:orientation val="minMax"/>
          <c:max val="120"/>
          <c:min val="0"/>
        </c:scaling>
        <c:delete val="0"/>
        <c:axPos val="t"/>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F172A"/>
                </a:solidFill>
                <a:latin typeface="Calibri"/>
              </a:defRPr>
            </a:pPr>
            <a:r>
              <a:rPr sz="1300" b="0" i="0" u="none" strike="noStrike">
                <a:solidFill>
                  <a:srgbClr val="0F172A"/>
                </a:solidFill>
                <a:latin typeface="Calibri"/>
              </a:rPr>
              <a:t>Sessions by entry hour</a:t>
            </a:r>
          </a:p>
        </c:rich>
      </c:tx>
      <c:overlay val="0"/>
    </c:title>
    <c:autoTitleDeleted val="0"/>
    <c:plotArea>
      <c:layout/>
      <c:lineChart>
        <c:grouping val="standard"/>
        <c:varyColors val="0"/>
        <c:ser>
          <c:idx val="0"/>
          <c:order val="0"/>
          <c:tx>
            <c:strRef>
              <c:f>Sheet1!$B$1</c:f>
              <c:strCache>
                <c:ptCount val="1"/>
                <c:pt idx="0">
                  <c:v>Sessions</c:v>
                </c:pt>
              </c:strCache>
            </c:strRef>
          </c:tx>
          <c:spPr>
            <a:ln w="38100" cap="flat">
              <a:solidFill>
                <a:srgbClr val="2563EB"/>
              </a:solidFill>
              <a:prstDash val="solid"/>
              <a:round/>
            </a:ln>
            <a:effectLst/>
          </c:spPr>
          <c:marker>
            <c:symbol val="circle"/>
            <c:size val="7"/>
            <c:spPr>
              <a:solidFill>
                <a:srgbClr val="2563EB"/>
              </a:solidFill>
              <a:ln w="9525" cap="flat">
                <a:solidFill>
                  <a:srgbClr val="2563EB"/>
                </a:solidFill>
                <a:prstDash val="solid"/>
                <a:round/>
              </a:ln>
              <a:effectLst/>
            </c:spPr>
          </c:marker>
          <c:cat>
            <c:strRef>
              <c:f>Sheet1!$A$2:$A$18</c:f>
              <c:strCache>
                <c:ptCount val="17"/>
                <c:pt idx="0">
                  <c:v>06:00</c:v>
                </c:pt>
                <c:pt idx="1">
                  <c:v>07:00</c:v>
                </c:pt>
                <c:pt idx="2">
                  <c:v>08:00</c:v>
                </c:pt>
                <c:pt idx="3">
                  <c:v>09:00</c:v>
                </c:pt>
                <c:pt idx="4">
                  <c:v>10:00</c:v>
                </c:pt>
                <c:pt idx="5">
                  <c:v>11:00</c:v>
                </c:pt>
                <c:pt idx="6">
                  <c:v>12:00</c:v>
                </c:pt>
                <c:pt idx="7">
                  <c:v>13:00</c:v>
                </c:pt>
                <c:pt idx="8">
                  <c:v>14:00</c:v>
                </c:pt>
                <c:pt idx="9">
                  <c:v>15:00</c:v>
                </c:pt>
                <c:pt idx="10">
                  <c:v>16:00</c:v>
                </c:pt>
                <c:pt idx="11">
                  <c:v>17:00</c:v>
                </c:pt>
                <c:pt idx="12">
                  <c:v>18:00</c:v>
                </c:pt>
                <c:pt idx="13">
                  <c:v>19:00</c:v>
                </c:pt>
                <c:pt idx="14">
                  <c:v>20:00</c:v>
                </c:pt>
                <c:pt idx="15">
                  <c:v>21:00</c:v>
                </c:pt>
                <c:pt idx="16">
                  <c:v>22:00</c:v>
                </c:pt>
              </c:strCache>
            </c:strRef>
          </c:cat>
          <c:val>
            <c:numRef>
              <c:f>Sheet1!$B$2:$B$18</c:f>
              <c:numCache>
                <c:formatCode>General</c:formatCode>
                <c:ptCount val="17"/>
                <c:pt idx="0">
                  <c:v>27</c:v>
                </c:pt>
                <c:pt idx="1">
                  <c:v>17</c:v>
                </c:pt>
                <c:pt idx="2">
                  <c:v>34</c:v>
                </c:pt>
                <c:pt idx="3">
                  <c:v>25</c:v>
                </c:pt>
                <c:pt idx="4">
                  <c:v>25</c:v>
                </c:pt>
                <c:pt idx="5">
                  <c:v>31</c:v>
                </c:pt>
                <c:pt idx="6">
                  <c:v>27</c:v>
                </c:pt>
                <c:pt idx="7">
                  <c:v>26</c:v>
                </c:pt>
                <c:pt idx="8">
                  <c:v>35</c:v>
                </c:pt>
                <c:pt idx="9">
                  <c:v>22</c:v>
                </c:pt>
                <c:pt idx="10">
                  <c:v>26</c:v>
                </c:pt>
                <c:pt idx="11">
                  <c:v>32</c:v>
                </c:pt>
                <c:pt idx="12">
                  <c:v>36</c:v>
                </c:pt>
                <c:pt idx="13">
                  <c:v>34</c:v>
                </c:pt>
                <c:pt idx="14">
                  <c:v>32</c:v>
                </c:pt>
                <c:pt idx="15">
                  <c:v>32</c:v>
                </c:pt>
                <c:pt idx="16">
                  <c:v>31</c:v>
                </c:pt>
              </c:numCache>
            </c:numRef>
          </c:val>
          <c:smooth val="0"/>
          <c:extLst>
            <c:ext xmlns:c16="http://schemas.microsoft.com/office/drawing/2014/chart" uri="{C3380CC4-5D6E-409C-BE32-E72D297353CC}">
              <c16:uniqueId val="{00000000-BCC5-409D-9C66-7636CA38343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000" b="0" i="0" u="none" strike="noStrike">
                <a:solidFill>
                  <a:srgbClr val="64748B"/>
                </a:solidFill>
                <a:latin typeface="Calibri"/>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F172A"/>
                </a:solidFill>
                <a:latin typeface="Calibri"/>
              </a:defRPr>
            </a:pPr>
            <a:r>
              <a:rPr sz="1300" b="0" i="0" u="none" strike="noStrike">
                <a:solidFill>
                  <a:srgbClr val="0F172A"/>
                </a:solidFill>
                <a:latin typeface="Calibri"/>
              </a:rPr>
              <a:t>Avg duration (hours)</a:t>
            </a:r>
          </a:p>
        </c:rich>
      </c:tx>
      <c:overlay val="0"/>
    </c:title>
    <c:autoTitleDeleted val="0"/>
    <c:plotArea>
      <c:layout/>
      <c:barChart>
        <c:barDir val="col"/>
        <c:grouping val="clustered"/>
        <c:varyColors val="0"/>
        <c:ser>
          <c:idx val="0"/>
          <c:order val="0"/>
          <c:tx>
            <c:strRef>
              <c:f>Sheet1!$B$1</c:f>
              <c:strCache>
                <c:ptCount val="1"/>
                <c:pt idx="0">
                  <c:v>Avg hours</c:v>
                </c:pt>
              </c:strCache>
            </c:strRef>
          </c:tx>
          <c:spPr>
            <a:solidFill>
              <a:srgbClr val="2563EB"/>
            </a:solidFill>
            <a:effectLst/>
          </c:spPr>
          <c:invertIfNegative val="0"/>
          <c:dPt>
            <c:idx val="0"/>
            <c:invertIfNegative val="0"/>
            <c:bubble3D val="0"/>
            <c:extLst>
              <c:ext xmlns:c16="http://schemas.microsoft.com/office/drawing/2014/chart" uri="{C3380CC4-5D6E-409C-BE32-E72D297353CC}">
                <c16:uniqueId val="{00000001-E42D-422D-B57C-C8A2D5D56565}"/>
              </c:ext>
            </c:extLst>
          </c:dPt>
          <c:dPt>
            <c:idx val="1"/>
            <c:invertIfNegative val="0"/>
            <c:bubble3D val="0"/>
            <c:extLst>
              <c:ext xmlns:c16="http://schemas.microsoft.com/office/drawing/2014/chart" uri="{C3380CC4-5D6E-409C-BE32-E72D297353CC}">
                <c16:uniqueId val="{00000003-E42D-422D-B57C-C8A2D5D56565}"/>
              </c:ext>
            </c:extLst>
          </c:dPt>
          <c:dPt>
            <c:idx val="2"/>
            <c:invertIfNegative val="0"/>
            <c:bubble3D val="0"/>
            <c:spPr>
              <a:solidFill>
                <a:srgbClr val="22C55E"/>
              </a:solidFill>
              <a:effectLst/>
            </c:spPr>
            <c:extLst>
              <c:ext xmlns:c16="http://schemas.microsoft.com/office/drawing/2014/chart" uri="{C3380CC4-5D6E-409C-BE32-E72D297353CC}">
                <c16:uniqueId val="{00000005-E42D-422D-B57C-C8A2D5D56565}"/>
              </c:ext>
            </c:extLst>
          </c:dPt>
          <c:dPt>
            <c:idx val="3"/>
            <c:invertIfNegative val="0"/>
            <c:bubble3D val="0"/>
            <c:extLst>
              <c:ext xmlns:c16="http://schemas.microsoft.com/office/drawing/2014/chart" uri="{C3380CC4-5D6E-409C-BE32-E72D297353CC}">
                <c16:uniqueId val="{00000007-E42D-422D-B57C-C8A2D5D56565}"/>
              </c:ext>
            </c:extLst>
          </c:dPt>
          <c:dLbls>
            <c:numFmt formatCode="0.00" sourceLinked="0"/>
            <c:spPr>
              <a:noFill/>
              <a:ln>
                <a:noFill/>
              </a:ln>
              <a:effectLst/>
            </c:spPr>
            <c:txPr>
              <a:bodyPr/>
              <a:lstStyle/>
              <a:p>
                <a:pPr>
                  <a:defRPr sz="1100" b="0" i="0" u="none" strike="noStrike">
                    <a:solidFill>
                      <a:srgbClr val="0F172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Commercial</c:v>
                </c:pt>
                <c:pt idx="1">
                  <c:v>Hospital</c:v>
                </c:pt>
                <c:pt idx="2">
                  <c:v>Recreational</c:v>
                </c:pt>
                <c:pt idx="3">
                  <c:v>Transit</c:v>
                </c:pt>
              </c:strCache>
            </c:strRef>
          </c:cat>
          <c:val>
            <c:numRef>
              <c:f>Sheet1!$B$2:$B$5</c:f>
              <c:numCache>
                <c:formatCode>General</c:formatCode>
                <c:ptCount val="4"/>
                <c:pt idx="0">
                  <c:v>2.1800000000000002</c:v>
                </c:pt>
                <c:pt idx="1">
                  <c:v>2.02</c:v>
                </c:pt>
                <c:pt idx="2">
                  <c:v>2.33</c:v>
                </c:pt>
                <c:pt idx="3">
                  <c:v>2.2400000000000002</c:v>
                </c:pt>
              </c:numCache>
            </c:numRef>
          </c:val>
          <c:extLst>
            <c:ext xmlns:c16="http://schemas.microsoft.com/office/drawing/2014/chart" uri="{C3380CC4-5D6E-409C-BE32-E72D297353CC}">
              <c16:uniqueId val="{00000008-E42D-422D-B57C-C8A2D5D5656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Calibri"/>
              </a:defRPr>
            </a:pPr>
            <a:endParaRPr lang="en-US"/>
          </a:p>
        </c:txPr>
        <c:crossAx val="2094734552"/>
        <c:crosses val="autoZero"/>
        <c:auto val="1"/>
        <c:lblAlgn val="ctr"/>
        <c:lblOffset val="100"/>
        <c:noMultiLvlLbl val="1"/>
      </c:catAx>
      <c:valAx>
        <c:axId val="2094734552"/>
        <c:scaling>
          <c:orientation val="minMax"/>
          <c:max val="3"/>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F172A"/>
                </a:solidFill>
                <a:latin typeface="Calibri"/>
              </a:defRPr>
            </a:pPr>
            <a:r>
              <a:rPr sz="1300" b="0" i="0" u="none" strike="noStrike">
                <a:solidFill>
                  <a:srgbClr val="0F172A"/>
                </a:solidFill>
                <a:latin typeface="Calibri"/>
              </a:rPr>
              <a:t>Sessions by event indicator</a:t>
            </a:r>
          </a:p>
        </c:rich>
      </c:tx>
      <c:overlay val="0"/>
    </c:title>
    <c:autoTitleDeleted val="0"/>
    <c:plotArea>
      <c:layout/>
      <c:barChart>
        <c:barDir val="col"/>
        <c:grouping val="clustered"/>
        <c:varyColors val="0"/>
        <c:ser>
          <c:idx val="0"/>
          <c:order val="0"/>
          <c:tx>
            <c:strRef>
              <c:f>Sheet1!$B$1</c:f>
              <c:strCache>
                <c:ptCount val="1"/>
                <c:pt idx="0">
                  <c:v>Sessions by event indicator</c:v>
                </c:pt>
              </c:strCache>
            </c:strRef>
          </c:tx>
          <c:spPr>
            <a:solidFill>
              <a:srgbClr val="2563EB"/>
            </a:solidFill>
            <a:effectLst/>
          </c:spPr>
          <c:invertIfNegative val="0"/>
          <c:dPt>
            <c:idx val="0"/>
            <c:invertIfNegative val="0"/>
            <c:bubble3D val="0"/>
            <c:extLst>
              <c:ext xmlns:c16="http://schemas.microsoft.com/office/drawing/2014/chart" uri="{C3380CC4-5D6E-409C-BE32-E72D297353CC}">
                <c16:uniqueId val="{00000001-0407-4D20-AE4C-FC819B1BFB55}"/>
              </c:ext>
            </c:extLst>
          </c:dPt>
          <c:dPt>
            <c:idx val="1"/>
            <c:invertIfNegative val="0"/>
            <c:bubble3D val="0"/>
            <c:spPr>
              <a:solidFill>
                <a:srgbClr val="22C55E"/>
              </a:solidFill>
              <a:effectLst/>
            </c:spPr>
            <c:extLst>
              <c:ext xmlns:c16="http://schemas.microsoft.com/office/drawing/2014/chart" uri="{C3380CC4-5D6E-409C-BE32-E72D297353CC}">
                <c16:uniqueId val="{00000003-0407-4D20-AE4C-FC819B1BFB55}"/>
              </c:ext>
            </c:extLst>
          </c:dPt>
          <c:dLbls>
            <c:numFmt formatCode="#,##0" sourceLinked="0"/>
            <c:spPr>
              <a:noFill/>
              <a:ln>
                <a:noFill/>
              </a:ln>
              <a:effectLst/>
            </c:spPr>
            <c:txPr>
              <a:bodyPr/>
              <a:lstStyle/>
              <a:p>
                <a:pPr>
                  <a:defRPr sz="1100" b="0" i="0" u="none" strike="noStrike">
                    <a:solidFill>
                      <a:srgbClr val="0F172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Non-event (0)</c:v>
                </c:pt>
                <c:pt idx="1">
                  <c:v>Event (1)</c:v>
                </c:pt>
              </c:strCache>
            </c:strRef>
          </c:cat>
          <c:val>
            <c:numRef>
              <c:f>Sheet1!$B$2:$B$3</c:f>
              <c:numCache>
                <c:formatCode>General</c:formatCode>
                <c:ptCount val="2"/>
                <c:pt idx="0">
                  <c:v>464</c:v>
                </c:pt>
                <c:pt idx="1">
                  <c:v>28</c:v>
                </c:pt>
              </c:numCache>
            </c:numRef>
          </c:val>
          <c:extLst>
            <c:ext xmlns:c16="http://schemas.microsoft.com/office/drawing/2014/chart" uri="{C3380CC4-5D6E-409C-BE32-E72D297353CC}">
              <c16:uniqueId val="{00000004-0407-4D20-AE4C-FC819B1BFB5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Calibri"/>
              </a:defRPr>
            </a:pPr>
            <a:endParaRPr lang="en-US"/>
          </a:p>
        </c:txPr>
        <c:crossAx val="2094734552"/>
        <c:crosses val="autoZero"/>
        <c:auto val="1"/>
        <c:lblAlgn val="ctr"/>
        <c:lblOffset val="100"/>
        <c:noMultiLvlLbl val="1"/>
      </c:catAx>
      <c:valAx>
        <c:axId val="2094734552"/>
        <c:scaling>
          <c:orientation val="minMax"/>
          <c:max val="55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F172A"/>
                </a:solidFill>
                <a:latin typeface="Calibri"/>
              </a:defRPr>
            </a:pPr>
            <a:r>
              <a:rPr sz="1300" b="0" i="0" u="none" strike="noStrike">
                <a:solidFill>
                  <a:srgbClr val="0F172A"/>
                </a:solidFill>
                <a:latin typeface="Calibri"/>
              </a:rPr>
              <a:t>Sessions by weather indicator</a:t>
            </a:r>
          </a:p>
        </c:rich>
      </c:tx>
      <c:overlay val="0"/>
    </c:title>
    <c:autoTitleDeleted val="0"/>
    <c:plotArea>
      <c:layout/>
      <c:barChart>
        <c:barDir val="col"/>
        <c:grouping val="clustered"/>
        <c:varyColors val="0"/>
        <c:ser>
          <c:idx val="0"/>
          <c:order val="0"/>
          <c:tx>
            <c:strRef>
              <c:f>Sheet1!$B$1</c:f>
              <c:strCache>
                <c:ptCount val="1"/>
                <c:pt idx="0">
                  <c:v>Sessions by weather indicator</c:v>
                </c:pt>
              </c:strCache>
            </c:strRef>
          </c:tx>
          <c:spPr>
            <a:solidFill>
              <a:srgbClr val="06B6D4"/>
            </a:solidFill>
            <a:effectLst/>
          </c:spPr>
          <c:invertIfNegative val="0"/>
          <c:dPt>
            <c:idx val="0"/>
            <c:invertIfNegative val="0"/>
            <c:bubble3D val="0"/>
            <c:extLst>
              <c:ext xmlns:c16="http://schemas.microsoft.com/office/drawing/2014/chart" uri="{C3380CC4-5D6E-409C-BE32-E72D297353CC}">
                <c16:uniqueId val="{00000001-DC10-4964-A4ED-50252E173256}"/>
              </c:ext>
            </c:extLst>
          </c:dPt>
          <c:dPt>
            <c:idx val="1"/>
            <c:invertIfNegative val="0"/>
            <c:bubble3D val="0"/>
            <c:spPr>
              <a:solidFill>
                <a:srgbClr val="22C55E"/>
              </a:solidFill>
              <a:effectLst/>
            </c:spPr>
            <c:extLst>
              <c:ext xmlns:c16="http://schemas.microsoft.com/office/drawing/2014/chart" uri="{C3380CC4-5D6E-409C-BE32-E72D297353CC}">
                <c16:uniqueId val="{00000003-DC10-4964-A4ED-50252E173256}"/>
              </c:ext>
            </c:extLst>
          </c:dPt>
          <c:dLbls>
            <c:numFmt formatCode="#,##0" sourceLinked="0"/>
            <c:spPr>
              <a:noFill/>
              <a:ln>
                <a:noFill/>
              </a:ln>
              <a:effectLst/>
            </c:spPr>
            <c:txPr>
              <a:bodyPr/>
              <a:lstStyle/>
              <a:p>
                <a:pPr>
                  <a:defRPr sz="1100" b="0" i="0" u="none" strike="noStrike">
                    <a:solidFill>
                      <a:srgbClr val="0F172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 rain (0)</c:v>
                </c:pt>
                <c:pt idx="1">
                  <c:v>Rain (1)</c:v>
                </c:pt>
              </c:strCache>
            </c:strRef>
          </c:cat>
          <c:val>
            <c:numRef>
              <c:f>Sheet1!$B$2:$B$3</c:f>
              <c:numCache>
                <c:formatCode>General</c:formatCode>
                <c:ptCount val="2"/>
                <c:pt idx="0">
                  <c:v>363</c:v>
                </c:pt>
                <c:pt idx="1">
                  <c:v>129</c:v>
                </c:pt>
              </c:numCache>
            </c:numRef>
          </c:val>
          <c:extLst>
            <c:ext xmlns:c16="http://schemas.microsoft.com/office/drawing/2014/chart" uri="{C3380CC4-5D6E-409C-BE32-E72D297353CC}">
              <c16:uniqueId val="{00000004-DC10-4964-A4ED-50252E173256}"/>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Calibri"/>
              </a:defRPr>
            </a:pPr>
            <a:endParaRPr lang="en-US"/>
          </a:p>
        </c:txPr>
        <c:crossAx val="2094734552"/>
        <c:crosses val="autoZero"/>
        <c:auto val="1"/>
        <c:lblAlgn val="ctr"/>
        <c:lblOffset val="100"/>
        <c:noMultiLvlLbl val="1"/>
      </c:catAx>
      <c:valAx>
        <c:axId val="2094734552"/>
        <c:scaling>
          <c:orientation val="minMax"/>
          <c:max val="55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9795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project, Parking Utilization Insight, analyses parking session data for the ParkSmart City Services case study. I will walk from the problem through cleaning, analysis, findings and recommendations. All data is synthetic sample 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Cities and operators need to know when and where parking is used. Without analysis, decisions on staffing, space and pricing rely on guesswork. Our objectives are listed on the right.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CSV files were provided. Please note they are synthetic sample data created for this assessment, not verified ParkSmart operational records.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inspection we found several quality problems. Each was handled by documented cleaning rules, leaving 492 usable session records from the original 500.</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runs from raw CSV files to an analysis-ready dataset. Tables were joined using appropriate keys, such as session ID, zone, and date. The result is 492 cleaned session records.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features were created or used for analysis. The methods are descriptive and exploratory. Importantly, no predictive model has been trained in this project.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Zone D recorded the most sessions with 105, while Zone C recorded the fewest with 89. The spread across zones is modest. Session counts are not the same as occupancy.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Entry demand peaks at 18:00 with 36 sessions, and 07:00 is the lowest at 17. Among zone types, Recreational has the longest average duration at 2.33 hours, and Hospital the shortest at 2.02 hours.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raw counts of records in each category, not daily demand rates. Event and rain categories are unequal in size, so we cannot conclude that either one changes parking demand.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Excel dashboard has five charts and a separate KPI summary. Monetary values are shown without a currency symbol because the currency is not confirmed in the source.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are preliminary. Limitations matter: the data is synthetic, and counts are not occupancy. Treat findings as a demonstration of workflow.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model is proposed only. No model has been trained and no performance values exist. The conclusion restates what was actually accomplished.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1F5F9"/>
        </a:solidFill>
        <a:effectLst/>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Parking Utilization Insight  |  ParkSmart City Services</a:t>
            </a:r>
            <a:endParaRPr lang="en-US" sz="1000" dirty="0"/>
          </a:p>
        </p:txBody>
      </p:sp>
      <p:sp>
        <p:nvSpPr>
          <p:cNvPr id="3" name="Text 1"/>
          <p:cNvSpPr/>
          <p:nvPr/>
        </p:nvSpPr>
        <p:spPr>
          <a:xfrm>
            <a:off x="0" y="0"/>
            <a:ext cx="9144" cy="9144"/>
          </a:xfrm>
          <a:prstGeom prst="rect">
            <a:avLst/>
          </a:prstGeom>
          <a:noFill/>
          <a:ln/>
        </p:spPr>
        <p:txBody>
          <a:bodyPr wrap="square" rtlCol="0" anchor="ctr"/>
          <a:lstStyle/>
          <a:p>
            <a:pPr marL="0" indent="0">
              <a:buNone/>
            </a:pPr>
            <a:endParaRPr lang="en-US"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72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6126480" y="457200"/>
            <a:ext cx="502920" cy="502920"/>
          </a:xfrm>
          <a:prstGeom prst="roundRect">
            <a:avLst>
              <a:gd name="adj" fmla="val 10909"/>
            </a:avLst>
          </a:prstGeom>
          <a:solidFill>
            <a:srgbClr val="2563EB"/>
          </a:solidFill>
          <a:ln w="12700">
            <a:solidFill>
              <a:srgbClr val="0F172A"/>
            </a:solidFill>
            <a:prstDash val="solid"/>
          </a:ln>
        </p:spPr>
      </p:sp>
      <p:sp>
        <p:nvSpPr>
          <p:cNvPr id="4" name="Shape 1"/>
          <p:cNvSpPr/>
          <p:nvPr/>
        </p:nvSpPr>
        <p:spPr>
          <a:xfrm>
            <a:off x="6766560" y="457200"/>
            <a:ext cx="502920" cy="502920"/>
          </a:xfrm>
          <a:prstGeom prst="roundRect">
            <a:avLst>
              <a:gd name="adj" fmla="val 10909"/>
            </a:avLst>
          </a:prstGeom>
          <a:solidFill>
            <a:srgbClr val="06B6D4">
              <a:alpha val="45000"/>
            </a:srgbClr>
          </a:solidFill>
          <a:ln w="12700">
            <a:solidFill>
              <a:srgbClr val="0F172A"/>
            </a:solidFill>
            <a:prstDash val="solid"/>
          </a:ln>
        </p:spPr>
      </p:sp>
      <p:sp>
        <p:nvSpPr>
          <p:cNvPr id="5" name="Shape 2"/>
          <p:cNvSpPr/>
          <p:nvPr/>
        </p:nvSpPr>
        <p:spPr>
          <a:xfrm>
            <a:off x="7406640" y="457200"/>
            <a:ext cx="502920" cy="502920"/>
          </a:xfrm>
          <a:prstGeom prst="roundRect">
            <a:avLst>
              <a:gd name="adj" fmla="val 10909"/>
            </a:avLst>
          </a:prstGeom>
          <a:solidFill>
            <a:srgbClr val="22C55E">
              <a:alpha val="45000"/>
            </a:srgbClr>
          </a:solidFill>
          <a:ln w="12700">
            <a:solidFill>
              <a:srgbClr val="0F172A"/>
            </a:solidFill>
            <a:prstDash val="solid"/>
          </a:ln>
        </p:spPr>
      </p:sp>
      <p:sp>
        <p:nvSpPr>
          <p:cNvPr id="6" name="Shape 3"/>
          <p:cNvSpPr/>
          <p:nvPr/>
        </p:nvSpPr>
        <p:spPr>
          <a:xfrm>
            <a:off x="8046720" y="457200"/>
            <a:ext cx="502920" cy="502920"/>
          </a:xfrm>
          <a:prstGeom prst="roundRect">
            <a:avLst>
              <a:gd name="adj" fmla="val 10909"/>
            </a:avLst>
          </a:prstGeom>
          <a:solidFill>
            <a:srgbClr val="2563EB"/>
          </a:solidFill>
          <a:ln w="12700">
            <a:solidFill>
              <a:srgbClr val="0F172A"/>
            </a:solidFill>
            <a:prstDash val="solid"/>
          </a:ln>
        </p:spPr>
      </p:sp>
      <p:sp>
        <p:nvSpPr>
          <p:cNvPr id="7" name="Shape 4"/>
          <p:cNvSpPr/>
          <p:nvPr/>
        </p:nvSpPr>
        <p:spPr>
          <a:xfrm>
            <a:off x="6126480" y="1097280"/>
            <a:ext cx="502920" cy="502920"/>
          </a:xfrm>
          <a:prstGeom prst="roundRect">
            <a:avLst>
              <a:gd name="adj" fmla="val 10909"/>
            </a:avLst>
          </a:prstGeom>
          <a:solidFill>
            <a:srgbClr val="06B6D4">
              <a:alpha val="45000"/>
            </a:srgbClr>
          </a:solidFill>
          <a:ln w="12700">
            <a:solidFill>
              <a:srgbClr val="0F172A"/>
            </a:solidFill>
            <a:prstDash val="solid"/>
          </a:ln>
        </p:spPr>
      </p:sp>
      <p:sp>
        <p:nvSpPr>
          <p:cNvPr id="8" name="Shape 5"/>
          <p:cNvSpPr/>
          <p:nvPr/>
        </p:nvSpPr>
        <p:spPr>
          <a:xfrm>
            <a:off x="6766560" y="1097280"/>
            <a:ext cx="502920" cy="502920"/>
          </a:xfrm>
          <a:prstGeom prst="roundRect">
            <a:avLst>
              <a:gd name="adj" fmla="val 10909"/>
            </a:avLst>
          </a:prstGeom>
          <a:solidFill>
            <a:srgbClr val="22C55E">
              <a:alpha val="45000"/>
            </a:srgbClr>
          </a:solidFill>
          <a:ln w="12700">
            <a:solidFill>
              <a:srgbClr val="0F172A"/>
            </a:solidFill>
            <a:prstDash val="solid"/>
          </a:ln>
        </p:spPr>
      </p:sp>
      <p:sp>
        <p:nvSpPr>
          <p:cNvPr id="9" name="Shape 6"/>
          <p:cNvSpPr/>
          <p:nvPr/>
        </p:nvSpPr>
        <p:spPr>
          <a:xfrm>
            <a:off x="7406640" y="1097280"/>
            <a:ext cx="502920" cy="502920"/>
          </a:xfrm>
          <a:prstGeom prst="roundRect">
            <a:avLst>
              <a:gd name="adj" fmla="val 10909"/>
            </a:avLst>
          </a:prstGeom>
          <a:solidFill>
            <a:srgbClr val="2563EB"/>
          </a:solidFill>
          <a:ln w="12700">
            <a:solidFill>
              <a:srgbClr val="0F172A"/>
            </a:solidFill>
            <a:prstDash val="solid"/>
          </a:ln>
        </p:spPr>
      </p:sp>
      <p:sp>
        <p:nvSpPr>
          <p:cNvPr id="10" name="Shape 7"/>
          <p:cNvSpPr/>
          <p:nvPr/>
        </p:nvSpPr>
        <p:spPr>
          <a:xfrm>
            <a:off x="8046720" y="1097280"/>
            <a:ext cx="502920" cy="502920"/>
          </a:xfrm>
          <a:prstGeom prst="roundRect">
            <a:avLst>
              <a:gd name="adj" fmla="val 10909"/>
            </a:avLst>
          </a:prstGeom>
          <a:solidFill>
            <a:srgbClr val="2563EB">
              <a:alpha val="45000"/>
            </a:srgbClr>
          </a:solidFill>
          <a:ln w="12700">
            <a:solidFill>
              <a:srgbClr val="0F172A"/>
            </a:solidFill>
            <a:prstDash val="solid"/>
          </a:ln>
        </p:spPr>
      </p:sp>
      <p:sp>
        <p:nvSpPr>
          <p:cNvPr id="11" name="Shape 8"/>
          <p:cNvSpPr/>
          <p:nvPr/>
        </p:nvSpPr>
        <p:spPr>
          <a:xfrm>
            <a:off x="6126480" y="1737360"/>
            <a:ext cx="502920" cy="502920"/>
          </a:xfrm>
          <a:prstGeom prst="roundRect">
            <a:avLst>
              <a:gd name="adj" fmla="val 10909"/>
            </a:avLst>
          </a:prstGeom>
          <a:solidFill>
            <a:srgbClr val="22C55E">
              <a:alpha val="45000"/>
            </a:srgbClr>
          </a:solidFill>
          <a:ln w="12700">
            <a:solidFill>
              <a:srgbClr val="0F172A"/>
            </a:solidFill>
            <a:prstDash val="solid"/>
          </a:ln>
        </p:spPr>
      </p:sp>
      <p:sp>
        <p:nvSpPr>
          <p:cNvPr id="12" name="Shape 9"/>
          <p:cNvSpPr/>
          <p:nvPr/>
        </p:nvSpPr>
        <p:spPr>
          <a:xfrm>
            <a:off x="6766560" y="1737360"/>
            <a:ext cx="502920" cy="502920"/>
          </a:xfrm>
          <a:prstGeom prst="roundRect">
            <a:avLst>
              <a:gd name="adj" fmla="val 10909"/>
            </a:avLst>
          </a:prstGeom>
          <a:solidFill>
            <a:srgbClr val="2563EB"/>
          </a:solidFill>
          <a:ln w="12700">
            <a:solidFill>
              <a:srgbClr val="0F172A"/>
            </a:solidFill>
            <a:prstDash val="solid"/>
          </a:ln>
        </p:spPr>
      </p:sp>
      <p:sp>
        <p:nvSpPr>
          <p:cNvPr id="13" name="Shape 10"/>
          <p:cNvSpPr/>
          <p:nvPr/>
        </p:nvSpPr>
        <p:spPr>
          <a:xfrm>
            <a:off x="7406640" y="1737360"/>
            <a:ext cx="502920" cy="502920"/>
          </a:xfrm>
          <a:prstGeom prst="roundRect">
            <a:avLst>
              <a:gd name="adj" fmla="val 10909"/>
            </a:avLst>
          </a:prstGeom>
          <a:solidFill>
            <a:srgbClr val="2563EB">
              <a:alpha val="45000"/>
            </a:srgbClr>
          </a:solidFill>
          <a:ln w="12700">
            <a:solidFill>
              <a:srgbClr val="0F172A"/>
            </a:solidFill>
            <a:prstDash val="solid"/>
          </a:ln>
        </p:spPr>
      </p:sp>
      <p:sp>
        <p:nvSpPr>
          <p:cNvPr id="14" name="Shape 11"/>
          <p:cNvSpPr/>
          <p:nvPr/>
        </p:nvSpPr>
        <p:spPr>
          <a:xfrm>
            <a:off x="8046720" y="1737360"/>
            <a:ext cx="502920" cy="502920"/>
          </a:xfrm>
          <a:prstGeom prst="roundRect">
            <a:avLst>
              <a:gd name="adj" fmla="val 10909"/>
            </a:avLst>
          </a:prstGeom>
          <a:solidFill>
            <a:srgbClr val="06B6D4">
              <a:alpha val="45000"/>
            </a:srgbClr>
          </a:solidFill>
          <a:ln w="12700">
            <a:solidFill>
              <a:srgbClr val="0F172A"/>
            </a:solidFill>
            <a:prstDash val="solid"/>
          </a:ln>
        </p:spPr>
      </p:sp>
      <p:sp>
        <p:nvSpPr>
          <p:cNvPr id="15" name="Text 12"/>
          <p:cNvSpPr txBox="1"/>
          <p:nvPr/>
        </p:nvSpPr>
        <p:spPr>
          <a:xfrm>
            <a:off x="548640" y="1097280"/>
            <a:ext cx="5303520" cy="320040"/>
          </a:xfrm>
          <a:prstGeom prst="rect">
            <a:avLst/>
          </a:prstGeom>
          <a:noFill/>
          <a:ln/>
        </p:spPr>
        <p:txBody>
          <a:bodyPr wrap="square" lIns="0" tIns="0" rIns="0" bIns="0" rtlCol="0" anchor="t"/>
          <a:lstStyle/>
          <a:p>
            <a:pPr marL="0" indent="0">
              <a:buNone/>
            </a:pPr>
            <a:r>
              <a:rPr lang="en-US" sz="1400" b="1" kern="0" spc="300" dirty="0">
                <a:solidFill>
                  <a:srgbClr val="06B6D4"/>
                </a:solidFill>
                <a:latin typeface="Calibri" pitchFamily="34" charset="0"/>
                <a:ea typeface="Calibri" pitchFamily="34" charset="-122"/>
                <a:cs typeface="Calibri" pitchFamily="34" charset="-120"/>
              </a:rPr>
              <a:t>DATA SCIENCE ASSESSMENT</a:t>
            </a:r>
            <a:endParaRPr lang="en-US" sz="1400" dirty="0"/>
          </a:p>
        </p:txBody>
      </p:sp>
      <p:sp>
        <p:nvSpPr>
          <p:cNvPr id="16" name="Text 13"/>
          <p:cNvSpPr txBox="1"/>
          <p:nvPr/>
        </p:nvSpPr>
        <p:spPr>
          <a:xfrm>
            <a:off x="548640" y="1417320"/>
            <a:ext cx="5394960" cy="128016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Parking Utilization Insight</a:t>
            </a:r>
            <a:endParaRPr lang="en-US" sz="4000" dirty="0"/>
          </a:p>
        </p:txBody>
      </p:sp>
      <p:sp>
        <p:nvSpPr>
          <p:cNvPr id="17" name="Text 14"/>
          <p:cNvSpPr txBox="1"/>
          <p:nvPr/>
        </p:nvSpPr>
        <p:spPr>
          <a:xfrm>
            <a:off x="548640" y="2880360"/>
            <a:ext cx="5486400" cy="411480"/>
          </a:xfrm>
          <a:prstGeom prst="rect">
            <a:avLst/>
          </a:prstGeom>
          <a:noFill/>
          <a:ln/>
        </p:spPr>
        <p:txBody>
          <a:bodyPr wrap="square" lIns="0" tIns="0" rIns="0" bIns="0" rtlCol="0" anchor="t"/>
          <a:lstStyle/>
          <a:p>
            <a:pPr marL="0" indent="0">
              <a:buNone/>
            </a:pPr>
            <a:r>
              <a:rPr lang="en-US" sz="2200" dirty="0">
                <a:solidFill>
                  <a:srgbClr val="06B6D4"/>
                </a:solidFill>
                <a:latin typeface="Calibri" pitchFamily="34" charset="0"/>
                <a:ea typeface="Calibri" pitchFamily="34" charset="-122"/>
                <a:cs typeface="Calibri" pitchFamily="34" charset="-120"/>
              </a:rPr>
              <a:t>ParkSmart City Services</a:t>
            </a:r>
            <a:endParaRPr lang="en-US" sz="2200" dirty="0"/>
          </a:p>
        </p:txBody>
      </p:sp>
      <p:sp>
        <p:nvSpPr>
          <p:cNvPr id="18" name="Text 15"/>
          <p:cNvSpPr txBox="1"/>
          <p:nvPr/>
        </p:nvSpPr>
        <p:spPr>
          <a:xfrm>
            <a:off x="548640" y="3383280"/>
            <a:ext cx="5486400" cy="36576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Data-driven parking analysis for smarter parking management</a:t>
            </a:r>
            <a:endParaRPr lang="en-US" sz="1400" dirty="0"/>
          </a:p>
        </p:txBody>
      </p:sp>
      <p:sp>
        <p:nvSpPr>
          <p:cNvPr id="19" name="Shape 16"/>
          <p:cNvSpPr/>
          <p:nvPr/>
        </p:nvSpPr>
        <p:spPr>
          <a:xfrm>
            <a:off x="6126480" y="3063240"/>
            <a:ext cx="2560320" cy="1417320"/>
          </a:xfrm>
          <a:prstGeom prst="roundRect">
            <a:avLst>
              <a:gd name="adj" fmla="val 5161"/>
            </a:avLst>
          </a:prstGeom>
          <a:solidFill>
            <a:srgbClr val="1E293B"/>
          </a:solidFill>
          <a:ln w="12700">
            <a:solidFill>
              <a:srgbClr val="334155"/>
            </a:solidFill>
            <a:prstDash val="solid"/>
          </a:ln>
        </p:spPr>
      </p:sp>
      <p:sp>
        <p:nvSpPr>
          <p:cNvPr id="20" name="Text 17"/>
          <p:cNvSpPr txBox="1"/>
          <p:nvPr/>
        </p:nvSpPr>
        <p:spPr>
          <a:xfrm>
            <a:off x="6377940" y="3383280"/>
            <a:ext cx="2560320" cy="1076178"/>
          </a:xfrm>
          <a:prstGeom prst="rect">
            <a:avLst/>
          </a:prstGeom>
          <a:noFill/>
          <a:ln/>
        </p:spPr>
        <p:txBody>
          <a:bodyPr wrap="square" lIns="0" tIns="0" rIns="0" bIns="0" rtlCol="0" anchor="t"/>
          <a:lstStyle/>
          <a:p>
            <a:pPr marL="0" indent="0">
              <a:spcAft>
                <a:spcPts val="400"/>
              </a:spcAft>
              <a:buNone/>
            </a:pPr>
            <a:r>
              <a:rPr lang="en-US" sz="1200" dirty="0">
                <a:solidFill>
                  <a:srgbClr val="CBD5E1"/>
                </a:solidFill>
                <a:latin typeface="Calibri" pitchFamily="34" charset="0"/>
                <a:ea typeface="Calibri" pitchFamily="34" charset="-122"/>
                <a:cs typeface="Calibri" pitchFamily="34" charset="-120"/>
              </a:rPr>
              <a:t>Student Name: Rukshana S </a:t>
            </a:r>
            <a:endParaRPr lang="en-US" sz="1200" dirty="0"/>
          </a:p>
          <a:p>
            <a:pPr marL="0" indent="0">
              <a:spcAft>
                <a:spcPts val="400"/>
              </a:spcAft>
              <a:buNone/>
            </a:pPr>
            <a:r>
              <a:rPr lang="en-US" sz="1200" dirty="0">
                <a:solidFill>
                  <a:srgbClr val="CBD5E1"/>
                </a:solidFill>
                <a:latin typeface="Calibri" pitchFamily="34" charset="0"/>
                <a:ea typeface="Calibri" pitchFamily="34" charset="-122"/>
                <a:cs typeface="Calibri" pitchFamily="34" charset="-120"/>
              </a:rPr>
              <a:t>Reg. No: 722824104200</a:t>
            </a:r>
            <a:endParaRPr lang="en-US" sz="1200" dirty="0"/>
          </a:p>
          <a:p>
            <a:pPr marL="0" indent="0">
              <a:spcAft>
                <a:spcPts val="400"/>
              </a:spcAft>
              <a:buNone/>
            </a:pPr>
            <a:r>
              <a:rPr lang="en-US" sz="1200" dirty="0">
                <a:solidFill>
                  <a:srgbClr val="CBD5E1"/>
                </a:solidFill>
                <a:latin typeface="Calibri" pitchFamily="34" charset="0"/>
                <a:ea typeface="Calibri" pitchFamily="34" charset="-122"/>
                <a:cs typeface="Calibri" pitchFamily="34" charset="-120"/>
              </a:rPr>
              <a:t>Department: III – BE - CSE C</a:t>
            </a:r>
            <a:endParaRPr lang="en-US" sz="1200" dirty="0"/>
          </a:p>
          <a:p>
            <a:pPr marL="0" indent="0">
              <a:spcAft>
                <a:spcPts val="400"/>
              </a:spcAft>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28600"/>
            <a:ext cx="822960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Problem Statement and Motivation</a:t>
            </a:r>
            <a:endParaRPr lang="en-US" sz="3000" dirty="0"/>
          </a:p>
        </p:txBody>
      </p:sp>
      <p:sp>
        <p:nvSpPr>
          <p:cNvPr id="4" name="Text 1"/>
          <p:cNvSpPr txBox="1"/>
          <p:nvPr/>
        </p:nvSpPr>
        <p:spPr>
          <a:xfrm>
            <a:off x="457200" y="1005840"/>
            <a:ext cx="3931920" cy="320040"/>
          </a:xfrm>
          <a:prstGeom prst="rect">
            <a:avLst/>
          </a:prstGeom>
          <a:noFill/>
          <a:ln/>
        </p:spPr>
        <p:txBody>
          <a:bodyPr wrap="square" lIns="0" tIns="0" rIns="0" bIns="0" rtlCol="0" anchor="t"/>
          <a:lstStyle/>
          <a:p>
            <a:pPr marL="0" indent="0">
              <a:buNone/>
            </a:pPr>
            <a:r>
              <a:rPr lang="en-US" sz="1800" b="1" dirty="0">
                <a:solidFill>
                  <a:srgbClr val="2563EB"/>
                </a:solidFill>
                <a:latin typeface="Calibri" pitchFamily="34" charset="0"/>
                <a:ea typeface="Calibri" pitchFamily="34" charset="-122"/>
                <a:cs typeface="Calibri" pitchFamily="34" charset="-120"/>
              </a:rPr>
              <a:t>Parking management challenges</a:t>
            </a:r>
            <a:endParaRPr lang="en-US" sz="1800" dirty="0"/>
          </a:p>
        </p:txBody>
      </p:sp>
      <p:sp>
        <p:nvSpPr>
          <p:cNvPr id="5" name="Shape 2"/>
          <p:cNvSpPr/>
          <p:nvPr/>
        </p:nvSpPr>
        <p:spPr>
          <a:xfrm>
            <a:off x="457200" y="1417320"/>
            <a:ext cx="3931920" cy="914400"/>
          </a:xfrm>
          <a:prstGeom prst="roundRect">
            <a:avLst>
              <a:gd name="adj" fmla="val 8000"/>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6" name="Shape 3"/>
          <p:cNvSpPr/>
          <p:nvPr/>
        </p:nvSpPr>
        <p:spPr>
          <a:xfrm>
            <a:off x="640080" y="1645920"/>
            <a:ext cx="457200" cy="457200"/>
          </a:xfrm>
          <a:prstGeom prst="ellipse">
            <a:avLst/>
          </a:prstGeom>
          <a:solidFill>
            <a:srgbClr val="2563EB"/>
          </a:solidFill>
          <a:ln w="12700">
            <a:solidFill>
              <a:srgbClr val="2563EB"/>
            </a:solidFill>
            <a:prstDash val="solid"/>
          </a:ln>
        </p:spPr>
      </p:sp>
      <p:sp>
        <p:nvSpPr>
          <p:cNvPr id="7" name="Text 4"/>
          <p:cNvSpPr txBox="1"/>
          <p:nvPr/>
        </p:nvSpPr>
        <p:spPr>
          <a:xfrm>
            <a:off x="640080" y="16459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1280160" y="1600200"/>
            <a:ext cx="3017520" cy="27432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Unclear peak times</a:t>
            </a:r>
            <a:endParaRPr lang="en-US" sz="1600" dirty="0"/>
          </a:p>
        </p:txBody>
      </p:sp>
      <p:sp>
        <p:nvSpPr>
          <p:cNvPr id="9" name="Text 6"/>
          <p:cNvSpPr txBox="1"/>
          <p:nvPr/>
        </p:nvSpPr>
        <p:spPr>
          <a:xfrm>
            <a:off x="1280160" y="1892808"/>
            <a:ext cx="3017520" cy="274320"/>
          </a:xfrm>
          <a:prstGeom prst="rect">
            <a:avLst/>
          </a:prstGeom>
          <a:noFill/>
          <a:ln/>
        </p:spPr>
        <p:txBody>
          <a:bodyPr wrap="square" lIns="0" tIns="0" rIns="0" bIns="0" rtlCol="0" anchor="t"/>
          <a:lstStyle/>
          <a:p>
            <a:pPr marL="0" indent="0">
              <a:buNone/>
            </a:pPr>
            <a:r>
              <a:rPr lang="en-US" sz="1300" dirty="0">
                <a:solidFill>
                  <a:srgbClr val="64748B"/>
                </a:solidFill>
                <a:latin typeface="Calibri" pitchFamily="34" charset="0"/>
                <a:ea typeface="Calibri" pitchFamily="34" charset="-122"/>
                <a:cs typeface="Calibri" pitchFamily="34" charset="-120"/>
              </a:rPr>
              <a:t>Staffing and enforcement are hard to plan</a:t>
            </a:r>
            <a:endParaRPr lang="en-US" sz="1300" dirty="0"/>
          </a:p>
        </p:txBody>
      </p:sp>
      <p:sp>
        <p:nvSpPr>
          <p:cNvPr id="10" name="Shape 7"/>
          <p:cNvSpPr/>
          <p:nvPr/>
        </p:nvSpPr>
        <p:spPr>
          <a:xfrm>
            <a:off x="457200" y="2468880"/>
            <a:ext cx="3931920" cy="914400"/>
          </a:xfrm>
          <a:prstGeom prst="roundRect">
            <a:avLst>
              <a:gd name="adj" fmla="val 8000"/>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11" name="Shape 8"/>
          <p:cNvSpPr/>
          <p:nvPr/>
        </p:nvSpPr>
        <p:spPr>
          <a:xfrm>
            <a:off x="640080" y="2697480"/>
            <a:ext cx="457200" cy="457200"/>
          </a:xfrm>
          <a:prstGeom prst="ellipse">
            <a:avLst/>
          </a:prstGeom>
          <a:solidFill>
            <a:srgbClr val="06B6D4"/>
          </a:solidFill>
          <a:ln w="12700">
            <a:solidFill>
              <a:srgbClr val="06B6D4"/>
            </a:solidFill>
            <a:prstDash val="solid"/>
          </a:ln>
        </p:spPr>
      </p:sp>
      <p:sp>
        <p:nvSpPr>
          <p:cNvPr id="12" name="Text 9"/>
          <p:cNvSpPr txBox="1"/>
          <p:nvPr/>
        </p:nvSpPr>
        <p:spPr>
          <a:xfrm>
            <a:off x="640080" y="26974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0"/>
          <p:cNvSpPr txBox="1"/>
          <p:nvPr/>
        </p:nvSpPr>
        <p:spPr>
          <a:xfrm>
            <a:off x="1280160" y="2651760"/>
            <a:ext cx="3017520" cy="27432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Uneven zone use</a:t>
            </a:r>
            <a:endParaRPr lang="en-US" sz="1600" dirty="0"/>
          </a:p>
        </p:txBody>
      </p:sp>
      <p:sp>
        <p:nvSpPr>
          <p:cNvPr id="14" name="Text 11"/>
          <p:cNvSpPr txBox="1"/>
          <p:nvPr/>
        </p:nvSpPr>
        <p:spPr>
          <a:xfrm>
            <a:off x="1280160" y="2944368"/>
            <a:ext cx="3017520" cy="274320"/>
          </a:xfrm>
          <a:prstGeom prst="rect">
            <a:avLst/>
          </a:prstGeom>
          <a:noFill/>
          <a:ln/>
        </p:spPr>
        <p:txBody>
          <a:bodyPr wrap="square" lIns="0" tIns="0" rIns="0" bIns="0" rtlCol="0" anchor="t"/>
          <a:lstStyle/>
          <a:p>
            <a:pPr marL="0" indent="0">
              <a:buNone/>
            </a:pPr>
            <a:r>
              <a:rPr lang="en-US" sz="1300" dirty="0">
                <a:solidFill>
                  <a:srgbClr val="64748B"/>
                </a:solidFill>
                <a:latin typeface="Calibri" pitchFamily="34" charset="0"/>
                <a:ea typeface="Calibri" pitchFamily="34" charset="-122"/>
                <a:cs typeface="Calibri" pitchFamily="34" charset="-120"/>
              </a:rPr>
              <a:t>Some zones may be busier than others</a:t>
            </a:r>
            <a:endParaRPr lang="en-US" sz="1300" dirty="0"/>
          </a:p>
        </p:txBody>
      </p:sp>
      <p:sp>
        <p:nvSpPr>
          <p:cNvPr id="15" name="Shape 12"/>
          <p:cNvSpPr/>
          <p:nvPr/>
        </p:nvSpPr>
        <p:spPr>
          <a:xfrm>
            <a:off x="457200" y="3520440"/>
            <a:ext cx="3931920" cy="914400"/>
          </a:xfrm>
          <a:prstGeom prst="roundRect">
            <a:avLst>
              <a:gd name="adj" fmla="val 8000"/>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16" name="Shape 13"/>
          <p:cNvSpPr/>
          <p:nvPr/>
        </p:nvSpPr>
        <p:spPr>
          <a:xfrm>
            <a:off x="640080" y="3749040"/>
            <a:ext cx="457200" cy="457200"/>
          </a:xfrm>
          <a:prstGeom prst="ellipse">
            <a:avLst/>
          </a:prstGeom>
          <a:solidFill>
            <a:srgbClr val="22C55E"/>
          </a:solidFill>
          <a:ln w="12700">
            <a:solidFill>
              <a:srgbClr val="22C55E"/>
            </a:solidFill>
            <a:prstDash val="solid"/>
          </a:ln>
        </p:spPr>
      </p:sp>
      <p:sp>
        <p:nvSpPr>
          <p:cNvPr id="17" name="Text 14"/>
          <p:cNvSpPr txBox="1"/>
          <p:nvPr/>
        </p:nvSpPr>
        <p:spPr>
          <a:xfrm>
            <a:off x="640080" y="37490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5"/>
          <p:cNvSpPr txBox="1"/>
          <p:nvPr/>
        </p:nvSpPr>
        <p:spPr>
          <a:xfrm>
            <a:off x="1280160" y="3703320"/>
            <a:ext cx="3017520" cy="27432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Incomplete records</a:t>
            </a:r>
            <a:endParaRPr lang="en-US" sz="1600" dirty="0"/>
          </a:p>
        </p:txBody>
      </p:sp>
      <p:sp>
        <p:nvSpPr>
          <p:cNvPr id="19" name="Text 16"/>
          <p:cNvSpPr txBox="1"/>
          <p:nvPr/>
        </p:nvSpPr>
        <p:spPr>
          <a:xfrm>
            <a:off x="1280160" y="3995928"/>
            <a:ext cx="3017520" cy="274320"/>
          </a:xfrm>
          <a:prstGeom prst="rect">
            <a:avLst/>
          </a:prstGeom>
          <a:noFill/>
          <a:ln/>
        </p:spPr>
        <p:txBody>
          <a:bodyPr wrap="square" lIns="0" tIns="0" rIns="0" bIns="0" rtlCol="0" anchor="t"/>
          <a:lstStyle/>
          <a:p>
            <a:pPr marL="0" indent="0">
              <a:buNone/>
            </a:pPr>
            <a:r>
              <a:rPr lang="en-US" sz="1300" dirty="0">
                <a:solidFill>
                  <a:srgbClr val="64748B"/>
                </a:solidFill>
                <a:latin typeface="Calibri" pitchFamily="34" charset="0"/>
                <a:ea typeface="Calibri" pitchFamily="34" charset="-122"/>
                <a:cs typeface="Calibri" pitchFamily="34" charset="-120"/>
              </a:rPr>
              <a:t>Missing times and fees weaken reporting</a:t>
            </a:r>
            <a:endParaRPr lang="en-US" sz="1300" dirty="0"/>
          </a:p>
        </p:txBody>
      </p:sp>
      <p:sp>
        <p:nvSpPr>
          <p:cNvPr id="20" name="Shape 17"/>
          <p:cNvSpPr/>
          <p:nvPr/>
        </p:nvSpPr>
        <p:spPr>
          <a:xfrm>
            <a:off x="4663440" y="1005840"/>
            <a:ext cx="4023360" cy="3246120"/>
          </a:xfrm>
          <a:prstGeom prst="roundRect">
            <a:avLst>
              <a:gd name="adj" fmla="val 2254"/>
            </a:avLst>
          </a:prstGeom>
          <a:solidFill>
            <a:srgbClr val="0F172A"/>
          </a:solidFill>
          <a:ln w="9525">
            <a:solidFill>
              <a:srgbClr val="0F172A"/>
            </a:solidFill>
            <a:prstDash val="solid"/>
          </a:ln>
        </p:spPr>
      </p:sp>
      <p:sp>
        <p:nvSpPr>
          <p:cNvPr id="21" name="Text 18"/>
          <p:cNvSpPr txBox="1"/>
          <p:nvPr/>
        </p:nvSpPr>
        <p:spPr>
          <a:xfrm>
            <a:off x="4892040" y="1188720"/>
            <a:ext cx="3566160" cy="320040"/>
          </a:xfrm>
          <a:prstGeom prst="rect">
            <a:avLst/>
          </a:prstGeom>
          <a:noFill/>
          <a:ln/>
        </p:spPr>
        <p:txBody>
          <a:bodyPr wrap="square" lIns="0" tIns="0" rIns="0" bIns="0" rtlCol="0" anchor="t"/>
          <a:lstStyle/>
          <a:p>
            <a:pPr marL="0" indent="0">
              <a:buNone/>
            </a:pPr>
            <a:r>
              <a:rPr lang="en-US" sz="1800" b="1" dirty="0">
                <a:solidFill>
                  <a:srgbClr val="06B6D4"/>
                </a:solidFill>
                <a:latin typeface="Calibri" pitchFamily="34" charset="0"/>
                <a:ea typeface="Calibri" pitchFamily="34" charset="-122"/>
                <a:cs typeface="Calibri" pitchFamily="34" charset="-120"/>
              </a:rPr>
              <a:t>Project objectives</a:t>
            </a:r>
            <a:endParaRPr lang="en-US" sz="1800" dirty="0"/>
          </a:p>
        </p:txBody>
      </p:sp>
      <p:sp>
        <p:nvSpPr>
          <p:cNvPr id="22" name="Text 19"/>
          <p:cNvSpPr txBox="1"/>
          <p:nvPr/>
        </p:nvSpPr>
        <p:spPr>
          <a:xfrm>
            <a:off x="4892040" y="1645920"/>
            <a:ext cx="3566160" cy="24688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Analyse activity across parking zones</a:t>
            </a:r>
            <a:endParaRPr lang="en-US" sz="1400" dirty="0"/>
          </a:p>
          <a:p>
            <a:pPr marL="177800" indent="-1778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Identify peak entry hours</a:t>
            </a:r>
            <a:endParaRPr lang="en-US" sz="1400" dirty="0"/>
          </a:p>
          <a:p>
            <a:pPr marL="177800" indent="-1778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Examine parking duration patterns</a:t>
            </a:r>
            <a:endParaRPr lang="en-US" sz="1400" dirty="0"/>
          </a:p>
          <a:p>
            <a:pPr marL="177800" indent="-1778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Compare sessions by event and weather category</a:t>
            </a:r>
            <a:endParaRPr lang="en-US" sz="1400" dirty="0"/>
          </a:p>
          <a:p>
            <a:pPr marL="177800" indent="-1778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Recommend data-driven management actions</a:t>
            </a:r>
            <a:endParaRPr lang="en-US" sz="14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28600"/>
            <a:ext cx="822960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Dataset Overview</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4206240">
                  <a:extLst>
                    <a:ext uri="{9D8B030D-6E8A-4147-A177-3AD203B41FA5}">
                      <a16:colId xmlns:a16="http://schemas.microsoft.com/office/drawing/2014/main" val="20003"/>
                    </a:ext>
                  </a:extLst>
                </a:gridCol>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Dataset</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Records</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Attributes</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Contents</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411480">
                <a:tc>
                  <a:txBody>
                    <a:bodyPr/>
                    <a:lstStyle/>
                    <a:p>
                      <a:pPr marL="0" indent="0" algn="l">
                        <a:buNone/>
                      </a:pPr>
                      <a:r>
                        <a:rPr lang="en-US" sz="1300" b="1" dirty="0">
                          <a:solidFill>
                            <a:srgbClr val="0F172A"/>
                          </a:solidFill>
                          <a:latin typeface="Calibri" pitchFamily="34" charset="0"/>
                          <a:ea typeface="Calibri" pitchFamily="34" charset="-122"/>
                          <a:cs typeface="Calibri" pitchFamily="34" charset="-120"/>
                        </a:rPr>
                        <a:t>parking_sessions.csv</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F172A"/>
                          </a:solidFill>
                          <a:latin typeface="Calibri" pitchFamily="34" charset="0"/>
                          <a:ea typeface="Calibri" pitchFamily="34" charset="-122"/>
                          <a:cs typeface="Calibri" pitchFamily="34" charset="-120"/>
                        </a:rPr>
                        <a:t>500</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F172A"/>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Session ID, zone, entry, exit, duration, fee</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300" b="1" dirty="0">
                          <a:solidFill>
                            <a:srgbClr val="0F172A"/>
                          </a:solidFill>
                          <a:latin typeface="Calibri" pitchFamily="34" charset="0"/>
                          <a:ea typeface="Calibri" pitchFamily="34" charset="-122"/>
                          <a:cs typeface="Calibri" pitchFamily="34" charset="-120"/>
                        </a:rPr>
                        <a:t>zones.csv</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7"/>
                    </a:solidFill>
                  </a:tcPr>
                </a:tc>
                <a:tc>
                  <a:txBody>
                    <a:bodyPr/>
                    <a:lstStyle/>
                    <a:p>
                      <a:pPr marL="0" indent="0" algn="ctr">
                        <a:buNone/>
                      </a:pPr>
                      <a:r>
                        <a:rPr lang="en-US" sz="1300" dirty="0">
                          <a:solidFill>
                            <a:srgbClr val="0F172A"/>
                          </a:solidFill>
                          <a:latin typeface="Calibri" pitchFamily="34" charset="0"/>
                          <a:ea typeface="Calibri" pitchFamily="34" charset="-122"/>
                          <a:cs typeface="Calibri" pitchFamily="34" charset="-120"/>
                        </a:rPr>
                        <a:t>500</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7"/>
                    </a:solidFill>
                  </a:tcPr>
                </a:tc>
                <a:tc>
                  <a:txBody>
                    <a:bodyPr/>
                    <a:lstStyle/>
                    <a:p>
                      <a:pPr marL="0" indent="0" algn="ctr">
                        <a:buNone/>
                      </a:pPr>
                      <a:r>
                        <a:rPr lang="en-US" sz="1300" dirty="0">
                          <a:solidFill>
                            <a:srgbClr val="0F172A"/>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7"/>
                    </a:solidFill>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Zone ID, zone, location, capacity, zone type</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7"/>
                    </a:solidFill>
                  </a:tcPr>
                </a:tc>
                <a:extLst>
                  <a:ext uri="{0D108BD9-81ED-4DB2-BD59-A6C34878D82A}">
                    <a16:rowId xmlns:a16="http://schemas.microsoft.com/office/drawing/2014/main" val="10002"/>
                  </a:ext>
                </a:extLst>
              </a:tr>
              <a:tr h="411480">
                <a:tc>
                  <a:txBody>
                    <a:bodyPr/>
                    <a:lstStyle/>
                    <a:p>
                      <a:pPr marL="0" indent="0" algn="l">
                        <a:buNone/>
                      </a:pPr>
                      <a:r>
                        <a:rPr lang="en-US" sz="1300" b="1" dirty="0">
                          <a:solidFill>
                            <a:srgbClr val="0F172A"/>
                          </a:solidFill>
                          <a:latin typeface="Calibri" pitchFamily="34" charset="0"/>
                          <a:ea typeface="Calibri" pitchFamily="34" charset="-122"/>
                          <a:cs typeface="Calibri" pitchFamily="34" charset="-120"/>
                        </a:rPr>
                        <a:t>payments.csv</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F172A"/>
                          </a:solidFill>
                          <a:latin typeface="Calibri" pitchFamily="34" charset="0"/>
                          <a:ea typeface="Calibri" pitchFamily="34" charset="-122"/>
                          <a:cs typeface="Calibri" pitchFamily="34" charset="-120"/>
                        </a:rPr>
                        <a:t>500</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F172A"/>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Payment ID, session ID, mode, amount</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300" b="1" dirty="0">
                          <a:solidFill>
                            <a:srgbClr val="0F172A"/>
                          </a:solidFill>
                          <a:latin typeface="Calibri" pitchFamily="34" charset="0"/>
                          <a:ea typeface="Calibri" pitchFamily="34" charset="-122"/>
                          <a:cs typeface="Calibri" pitchFamily="34" charset="-120"/>
                        </a:rPr>
                        <a:t>calendar.csv</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7"/>
                    </a:solidFill>
                  </a:tcPr>
                </a:tc>
                <a:tc>
                  <a:txBody>
                    <a:bodyPr/>
                    <a:lstStyle/>
                    <a:p>
                      <a:pPr marL="0" indent="0" algn="ctr">
                        <a:buNone/>
                      </a:pPr>
                      <a:r>
                        <a:rPr lang="en-US" sz="1300" dirty="0">
                          <a:solidFill>
                            <a:srgbClr val="0F172A"/>
                          </a:solidFill>
                          <a:latin typeface="Calibri" pitchFamily="34" charset="0"/>
                          <a:ea typeface="Calibri" pitchFamily="34" charset="-122"/>
                          <a:cs typeface="Calibri" pitchFamily="34" charset="-120"/>
                        </a:rPr>
                        <a:t>500</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7"/>
                    </a:solidFill>
                  </a:tcPr>
                </a:tc>
                <a:tc>
                  <a:txBody>
                    <a:bodyPr/>
                    <a:lstStyle/>
                    <a:p>
                      <a:pPr marL="0" indent="0" algn="ctr">
                        <a:buNone/>
                      </a:pPr>
                      <a:r>
                        <a:rPr lang="en-US" sz="1300" dirty="0">
                          <a:solidFill>
                            <a:srgbClr val="0F172A"/>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7"/>
                    </a:solidFill>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Date, weekday, holiday, event indicator</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7"/>
                    </a:solidFill>
                  </a:tcPr>
                </a:tc>
                <a:extLst>
                  <a:ext uri="{0D108BD9-81ED-4DB2-BD59-A6C34878D82A}">
                    <a16:rowId xmlns:a16="http://schemas.microsoft.com/office/drawing/2014/main" val="10004"/>
                  </a:ext>
                </a:extLst>
              </a:tr>
              <a:tr h="411480">
                <a:tc>
                  <a:txBody>
                    <a:bodyPr/>
                    <a:lstStyle/>
                    <a:p>
                      <a:pPr marL="0" indent="0" algn="l">
                        <a:buNone/>
                      </a:pPr>
                      <a:r>
                        <a:rPr lang="en-US" sz="1300" b="1" dirty="0">
                          <a:solidFill>
                            <a:srgbClr val="0F172A"/>
                          </a:solidFill>
                          <a:latin typeface="Calibri" pitchFamily="34" charset="0"/>
                          <a:ea typeface="Calibri" pitchFamily="34" charset="-122"/>
                          <a:cs typeface="Calibri" pitchFamily="34" charset="-120"/>
                        </a:rPr>
                        <a:t>weather.csv</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F172A"/>
                          </a:solidFill>
                          <a:latin typeface="Calibri" pitchFamily="34" charset="0"/>
                          <a:ea typeface="Calibri" pitchFamily="34" charset="-122"/>
                          <a:cs typeface="Calibri" pitchFamily="34" charset="-120"/>
                        </a:rPr>
                        <a:t>500</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F172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Date, rainfall indicator, temperature</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1"/>
          <p:cNvSpPr/>
          <p:nvPr/>
        </p:nvSpPr>
        <p:spPr>
          <a:xfrm>
            <a:off x="457200" y="3840480"/>
            <a:ext cx="2377440" cy="310896"/>
          </a:xfrm>
          <a:prstGeom prst="roundRect">
            <a:avLst>
              <a:gd name="adj" fmla="val 50000"/>
            </a:avLst>
          </a:prstGeom>
          <a:solidFill>
            <a:srgbClr val="22C55E"/>
          </a:solidFill>
          <a:ln w="12700">
            <a:solidFill>
              <a:srgbClr val="22C55E"/>
            </a:solidFill>
            <a:prstDash val="solid"/>
          </a:ln>
        </p:spPr>
      </p:sp>
      <p:sp>
        <p:nvSpPr>
          <p:cNvPr id="6" name="Text 2"/>
          <p:cNvSpPr txBox="1"/>
          <p:nvPr/>
        </p:nvSpPr>
        <p:spPr>
          <a:xfrm>
            <a:off x="457200" y="3840480"/>
            <a:ext cx="237744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SYNTHETIC SAMPLE DATA</a:t>
            </a:r>
            <a:endParaRPr lang="en-US" sz="1200" dirty="0"/>
          </a:p>
        </p:txBody>
      </p:sp>
      <p:sp>
        <p:nvSpPr>
          <p:cNvPr id="7" name="Text 3"/>
          <p:cNvSpPr txBox="1"/>
          <p:nvPr/>
        </p:nvSpPr>
        <p:spPr>
          <a:xfrm>
            <a:off x="3017520" y="3840480"/>
            <a:ext cx="5669280" cy="310896"/>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Created for assessment. Not verified real-world ParkSmart records.</a:t>
            </a:r>
            <a:endParaRPr lang="en-US" sz="14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28600"/>
            <a:ext cx="822960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Data Quality Issues</a:t>
            </a:r>
            <a:endParaRPr lang="en-US" sz="3000" dirty="0"/>
          </a:p>
        </p:txBody>
      </p:sp>
      <p:sp>
        <p:nvSpPr>
          <p:cNvPr id="4" name="Shape 1"/>
          <p:cNvSpPr/>
          <p:nvPr/>
        </p:nvSpPr>
        <p:spPr>
          <a:xfrm>
            <a:off x="457200" y="1051560"/>
            <a:ext cx="2651760" cy="1097280"/>
          </a:xfrm>
          <a:prstGeom prst="roundRect">
            <a:avLst>
              <a:gd name="adj" fmla="val 6667"/>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5" name="Shape 2"/>
          <p:cNvSpPr/>
          <p:nvPr/>
        </p:nvSpPr>
        <p:spPr>
          <a:xfrm>
            <a:off x="594360" y="1188720"/>
            <a:ext cx="365760" cy="365760"/>
          </a:xfrm>
          <a:prstGeom prst="ellipse">
            <a:avLst/>
          </a:prstGeom>
          <a:solidFill>
            <a:srgbClr val="2563EB"/>
          </a:solidFill>
          <a:ln w="12700">
            <a:solidFill>
              <a:srgbClr val="2563EB"/>
            </a:solidFill>
            <a:prstDash val="solid"/>
          </a:ln>
        </p:spPr>
      </p:sp>
      <p:sp>
        <p:nvSpPr>
          <p:cNvPr id="6" name="Text 3"/>
          <p:cNvSpPr txBox="1"/>
          <p:nvPr/>
        </p:nvSpPr>
        <p:spPr>
          <a:xfrm>
            <a:off x="594360"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4"/>
          <p:cNvSpPr txBox="1"/>
          <p:nvPr/>
        </p:nvSpPr>
        <p:spPr>
          <a:xfrm>
            <a:off x="1051560" y="1188720"/>
            <a:ext cx="1965960" cy="50292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Missing exit timestamps</a:t>
            </a:r>
            <a:endParaRPr lang="en-US" sz="1400" dirty="0"/>
          </a:p>
        </p:txBody>
      </p:sp>
      <p:sp>
        <p:nvSpPr>
          <p:cNvPr id="8" name="Text 5"/>
          <p:cNvSpPr txBox="1"/>
          <p:nvPr/>
        </p:nvSpPr>
        <p:spPr>
          <a:xfrm>
            <a:off x="594360" y="1783080"/>
            <a:ext cx="2377440" cy="27432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Sessions without an end time</a:t>
            </a:r>
            <a:endParaRPr lang="en-US" sz="1200" dirty="0"/>
          </a:p>
        </p:txBody>
      </p:sp>
      <p:sp>
        <p:nvSpPr>
          <p:cNvPr id="9" name="Shape 6"/>
          <p:cNvSpPr/>
          <p:nvPr/>
        </p:nvSpPr>
        <p:spPr>
          <a:xfrm>
            <a:off x="3246120" y="1051560"/>
            <a:ext cx="2651760" cy="1097280"/>
          </a:xfrm>
          <a:prstGeom prst="roundRect">
            <a:avLst>
              <a:gd name="adj" fmla="val 6667"/>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10" name="Shape 7"/>
          <p:cNvSpPr/>
          <p:nvPr/>
        </p:nvSpPr>
        <p:spPr>
          <a:xfrm>
            <a:off x="3383280" y="1188720"/>
            <a:ext cx="365760" cy="365760"/>
          </a:xfrm>
          <a:prstGeom prst="ellipse">
            <a:avLst/>
          </a:prstGeom>
          <a:solidFill>
            <a:srgbClr val="2563EB"/>
          </a:solidFill>
          <a:ln w="12700">
            <a:solidFill>
              <a:srgbClr val="2563EB"/>
            </a:solidFill>
            <a:prstDash val="solid"/>
          </a:ln>
        </p:spPr>
      </p:sp>
      <p:sp>
        <p:nvSpPr>
          <p:cNvPr id="11" name="Text 8"/>
          <p:cNvSpPr txBox="1"/>
          <p:nvPr/>
        </p:nvSpPr>
        <p:spPr>
          <a:xfrm>
            <a:off x="3383280"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9"/>
          <p:cNvSpPr txBox="1"/>
          <p:nvPr/>
        </p:nvSpPr>
        <p:spPr>
          <a:xfrm>
            <a:off x="3840480" y="1188720"/>
            <a:ext cx="1965960" cy="50292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Missing durations</a:t>
            </a:r>
            <a:endParaRPr lang="en-US" sz="1400" dirty="0"/>
          </a:p>
        </p:txBody>
      </p:sp>
      <p:sp>
        <p:nvSpPr>
          <p:cNvPr id="13" name="Text 10"/>
          <p:cNvSpPr txBox="1"/>
          <p:nvPr/>
        </p:nvSpPr>
        <p:spPr>
          <a:xfrm>
            <a:off x="3383280" y="1783080"/>
            <a:ext cx="2377440" cy="27432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Duration not recorded</a:t>
            </a:r>
            <a:endParaRPr lang="en-US" sz="1200" dirty="0"/>
          </a:p>
        </p:txBody>
      </p:sp>
      <p:sp>
        <p:nvSpPr>
          <p:cNvPr id="14" name="Shape 11"/>
          <p:cNvSpPr/>
          <p:nvPr/>
        </p:nvSpPr>
        <p:spPr>
          <a:xfrm>
            <a:off x="6035040" y="1051560"/>
            <a:ext cx="2651760" cy="1097280"/>
          </a:xfrm>
          <a:prstGeom prst="roundRect">
            <a:avLst>
              <a:gd name="adj" fmla="val 6667"/>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15" name="Shape 12"/>
          <p:cNvSpPr/>
          <p:nvPr/>
        </p:nvSpPr>
        <p:spPr>
          <a:xfrm>
            <a:off x="6172200" y="1188720"/>
            <a:ext cx="365760" cy="365760"/>
          </a:xfrm>
          <a:prstGeom prst="ellipse">
            <a:avLst/>
          </a:prstGeom>
          <a:solidFill>
            <a:srgbClr val="2563EB"/>
          </a:solidFill>
          <a:ln w="12700">
            <a:solidFill>
              <a:srgbClr val="2563EB"/>
            </a:solidFill>
            <a:prstDash val="solid"/>
          </a:ln>
        </p:spPr>
      </p:sp>
      <p:sp>
        <p:nvSpPr>
          <p:cNvPr id="16" name="Text 13"/>
          <p:cNvSpPr txBox="1"/>
          <p:nvPr/>
        </p:nvSpPr>
        <p:spPr>
          <a:xfrm>
            <a:off x="6172200"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7" name="Text 14"/>
          <p:cNvSpPr txBox="1"/>
          <p:nvPr/>
        </p:nvSpPr>
        <p:spPr>
          <a:xfrm>
            <a:off x="6629400" y="1188720"/>
            <a:ext cx="1965960" cy="50292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Missing payment amounts</a:t>
            </a:r>
            <a:endParaRPr lang="en-US" sz="1400" dirty="0"/>
          </a:p>
        </p:txBody>
      </p:sp>
      <p:sp>
        <p:nvSpPr>
          <p:cNvPr id="18" name="Text 15"/>
          <p:cNvSpPr txBox="1"/>
          <p:nvPr/>
        </p:nvSpPr>
        <p:spPr>
          <a:xfrm>
            <a:off x="6172200" y="1783080"/>
            <a:ext cx="2377440" cy="27432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Fees absent in payments</a:t>
            </a:r>
            <a:endParaRPr lang="en-US" sz="1200" dirty="0"/>
          </a:p>
        </p:txBody>
      </p:sp>
      <p:sp>
        <p:nvSpPr>
          <p:cNvPr id="19" name="Shape 16"/>
          <p:cNvSpPr/>
          <p:nvPr/>
        </p:nvSpPr>
        <p:spPr>
          <a:xfrm>
            <a:off x="457200" y="2286000"/>
            <a:ext cx="2651760" cy="1097280"/>
          </a:xfrm>
          <a:prstGeom prst="roundRect">
            <a:avLst>
              <a:gd name="adj" fmla="val 6667"/>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20" name="Shape 17"/>
          <p:cNvSpPr/>
          <p:nvPr/>
        </p:nvSpPr>
        <p:spPr>
          <a:xfrm>
            <a:off x="594360" y="2423160"/>
            <a:ext cx="365760" cy="365760"/>
          </a:xfrm>
          <a:prstGeom prst="ellipse">
            <a:avLst/>
          </a:prstGeom>
          <a:solidFill>
            <a:srgbClr val="06B6D4"/>
          </a:solidFill>
          <a:ln w="12700">
            <a:solidFill>
              <a:srgbClr val="06B6D4"/>
            </a:solidFill>
            <a:prstDash val="solid"/>
          </a:ln>
        </p:spPr>
      </p:sp>
      <p:sp>
        <p:nvSpPr>
          <p:cNvPr id="21" name="Text 18"/>
          <p:cNvSpPr txBox="1"/>
          <p:nvPr/>
        </p:nvSpPr>
        <p:spPr>
          <a:xfrm>
            <a:off x="594360" y="24231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19"/>
          <p:cNvSpPr txBox="1"/>
          <p:nvPr/>
        </p:nvSpPr>
        <p:spPr>
          <a:xfrm>
            <a:off x="1051560" y="2423160"/>
            <a:ext cx="1965960" cy="50292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Inconsistent zone labels</a:t>
            </a:r>
            <a:endParaRPr lang="en-US" sz="1400" dirty="0"/>
          </a:p>
        </p:txBody>
      </p:sp>
      <p:sp>
        <p:nvSpPr>
          <p:cNvPr id="23" name="Text 20"/>
          <p:cNvSpPr txBox="1"/>
          <p:nvPr/>
        </p:nvSpPr>
        <p:spPr>
          <a:xfrm>
            <a:off x="594360" y="3017520"/>
            <a:ext cx="2377440" cy="27432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Same zone, different spellings</a:t>
            </a:r>
            <a:endParaRPr lang="en-US" sz="1200" dirty="0"/>
          </a:p>
        </p:txBody>
      </p:sp>
      <p:sp>
        <p:nvSpPr>
          <p:cNvPr id="24" name="Shape 21"/>
          <p:cNvSpPr/>
          <p:nvPr/>
        </p:nvSpPr>
        <p:spPr>
          <a:xfrm>
            <a:off x="3246120" y="2286000"/>
            <a:ext cx="2651760" cy="1097280"/>
          </a:xfrm>
          <a:prstGeom prst="roundRect">
            <a:avLst>
              <a:gd name="adj" fmla="val 6667"/>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25" name="Shape 22"/>
          <p:cNvSpPr/>
          <p:nvPr/>
        </p:nvSpPr>
        <p:spPr>
          <a:xfrm>
            <a:off x="3383280" y="2423160"/>
            <a:ext cx="365760" cy="365760"/>
          </a:xfrm>
          <a:prstGeom prst="ellipse">
            <a:avLst/>
          </a:prstGeom>
          <a:solidFill>
            <a:srgbClr val="06B6D4"/>
          </a:solidFill>
          <a:ln w="12700">
            <a:solidFill>
              <a:srgbClr val="06B6D4"/>
            </a:solidFill>
            <a:prstDash val="solid"/>
          </a:ln>
        </p:spPr>
      </p:sp>
      <p:sp>
        <p:nvSpPr>
          <p:cNvPr id="26" name="Text 23"/>
          <p:cNvSpPr txBox="1"/>
          <p:nvPr/>
        </p:nvSpPr>
        <p:spPr>
          <a:xfrm>
            <a:off x="3383280" y="24231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7" name="Text 24"/>
          <p:cNvSpPr txBox="1"/>
          <p:nvPr/>
        </p:nvSpPr>
        <p:spPr>
          <a:xfrm>
            <a:off x="3840480" y="2423160"/>
            <a:ext cx="1965960" cy="50292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Duplicate records</a:t>
            </a:r>
            <a:endParaRPr lang="en-US" sz="1400" dirty="0"/>
          </a:p>
        </p:txBody>
      </p:sp>
      <p:sp>
        <p:nvSpPr>
          <p:cNvPr id="28" name="Text 25"/>
          <p:cNvSpPr txBox="1"/>
          <p:nvPr/>
        </p:nvSpPr>
        <p:spPr>
          <a:xfrm>
            <a:off x="3383280" y="3017520"/>
            <a:ext cx="2377440" cy="27432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Repeated session rows</a:t>
            </a:r>
            <a:endParaRPr lang="en-US" sz="1200" dirty="0"/>
          </a:p>
        </p:txBody>
      </p:sp>
      <p:sp>
        <p:nvSpPr>
          <p:cNvPr id="29" name="Shape 26"/>
          <p:cNvSpPr/>
          <p:nvPr/>
        </p:nvSpPr>
        <p:spPr>
          <a:xfrm>
            <a:off x="6035040" y="2286000"/>
            <a:ext cx="2651760" cy="1097280"/>
          </a:xfrm>
          <a:prstGeom prst="roundRect">
            <a:avLst>
              <a:gd name="adj" fmla="val 6667"/>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30" name="Shape 27"/>
          <p:cNvSpPr/>
          <p:nvPr/>
        </p:nvSpPr>
        <p:spPr>
          <a:xfrm>
            <a:off x="6172200" y="2423160"/>
            <a:ext cx="365760" cy="365760"/>
          </a:xfrm>
          <a:prstGeom prst="ellipse">
            <a:avLst/>
          </a:prstGeom>
          <a:solidFill>
            <a:srgbClr val="06B6D4"/>
          </a:solidFill>
          <a:ln w="12700">
            <a:solidFill>
              <a:srgbClr val="06B6D4"/>
            </a:solidFill>
            <a:prstDash val="solid"/>
          </a:ln>
        </p:spPr>
      </p:sp>
      <p:sp>
        <p:nvSpPr>
          <p:cNvPr id="31" name="Text 28"/>
          <p:cNvSpPr txBox="1"/>
          <p:nvPr/>
        </p:nvSpPr>
        <p:spPr>
          <a:xfrm>
            <a:off x="6172200" y="24231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2" name="Text 29"/>
          <p:cNvSpPr txBox="1"/>
          <p:nvPr/>
        </p:nvSpPr>
        <p:spPr>
          <a:xfrm>
            <a:off x="6629400" y="2423160"/>
            <a:ext cx="1965960" cy="50292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Negative durations</a:t>
            </a:r>
            <a:endParaRPr lang="en-US" sz="1400" dirty="0"/>
          </a:p>
        </p:txBody>
      </p:sp>
      <p:sp>
        <p:nvSpPr>
          <p:cNvPr id="33" name="Text 30"/>
          <p:cNvSpPr txBox="1"/>
          <p:nvPr/>
        </p:nvSpPr>
        <p:spPr>
          <a:xfrm>
            <a:off x="6172200" y="3017520"/>
            <a:ext cx="2377440" cy="27432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Exit earlier than entry</a:t>
            </a:r>
            <a:endParaRPr lang="en-US" sz="1200" dirty="0"/>
          </a:p>
        </p:txBody>
      </p:sp>
      <p:sp>
        <p:nvSpPr>
          <p:cNvPr id="34" name="Shape 31"/>
          <p:cNvSpPr/>
          <p:nvPr/>
        </p:nvSpPr>
        <p:spPr>
          <a:xfrm>
            <a:off x="457200" y="3611880"/>
            <a:ext cx="8229600" cy="1051560"/>
          </a:xfrm>
          <a:prstGeom prst="roundRect">
            <a:avLst>
              <a:gd name="adj" fmla="val 6957"/>
            </a:avLst>
          </a:prstGeom>
          <a:solidFill>
            <a:srgbClr val="0F172A"/>
          </a:solidFill>
          <a:ln w="9525">
            <a:solidFill>
              <a:srgbClr val="0F172A"/>
            </a:solidFill>
            <a:prstDash val="solid"/>
          </a:ln>
        </p:spPr>
      </p:sp>
      <p:sp>
        <p:nvSpPr>
          <p:cNvPr id="35" name="Text 32"/>
          <p:cNvSpPr txBox="1"/>
          <p:nvPr/>
        </p:nvSpPr>
        <p:spPr>
          <a:xfrm>
            <a:off x="640080" y="3703320"/>
            <a:ext cx="2743200" cy="274320"/>
          </a:xfrm>
          <a:prstGeom prst="rect">
            <a:avLst/>
          </a:prstGeom>
          <a:noFill/>
          <a:ln/>
        </p:spPr>
        <p:txBody>
          <a:bodyPr wrap="square" lIns="0" tIns="0" rIns="0" bIns="0" rtlCol="0" anchor="t"/>
          <a:lstStyle/>
          <a:p>
            <a:pPr marL="0" indent="0">
              <a:buNone/>
            </a:pPr>
            <a:r>
              <a:rPr lang="en-US" sz="1500" b="1" dirty="0">
                <a:solidFill>
                  <a:srgbClr val="06B6D4"/>
                </a:solidFill>
                <a:latin typeface="Calibri" pitchFamily="34" charset="0"/>
                <a:ea typeface="Calibri" pitchFamily="34" charset="-122"/>
                <a:cs typeface="Calibri" pitchFamily="34" charset="-120"/>
              </a:rPr>
              <a:t>Cleaning approach</a:t>
            </a:r>
            <a:endParaRPr lang="en-US" sz="1500" dirty="0"/>
          </a:p>
        </p:txBody>
      </p:sp>
      <p:sp>
        <p:nvSpPr>
          <p:cNvPr id="36" name="Text 33"/>
          <p:cNvSpPr txBox="1"/>
          <p:nvPr/>
        </p:nvSpPr>
        <p:spPr>
          <a:xfrm>
            <a:off x="640080" y="4023360"/>
            <a:ext cx="7863840" cy="54864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Standardise labels  &gt;  remove duplicate or invalid sessions  &gt;  handle invalid durations and incomplete records  &gt;  fill fees only where matching values exist</a:t>
            </a:r>
            <a:endParaRPr lang="en-US" sz="1400" dirty="0"/>
          </a:p>
        </p:txBody>
      </p:sp>
      <p:sp>
        <p:nvSpPr>
          <p:cNvPr id="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28600"/>
            <a:ext cx="822960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Data Preprocessing and Integration</a:t>
            </a:r>
            <a:endParaRPr lang="en-US" sz="3000" dirty="0"/>
          </a:p>
        </p:txBody>
      </p:sp>
      <p:sp>
        <p:nvSpPr>
          <p:cNvPr id="4" name="Shape 1"/>
          <p:cNvSpPr/>
          <p:nvPr/>
        </p:nvSpPr>
        <p:spPr>
          <a:xfrm>
            <a:off x="457200" y="1371600"/>
            <a:ext cx="1188720" cy="1371600"/>
          </a:xfrm>
          <a:prstGeom prst="roundRect">
            <a:avLst>
              <a:gd name="adj" fmla="val 6154"/>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5" name="Shape 2"/>
          <p:cNvSpPr/>
          <p:nvPr/>
        </p:nvSpPr>
        <p:spPr>
          <a:xfrm>
            <a:off x="822960" y="1481328"/>
            <a:ext cx="457200" cy="457200"/>
          </a:xfrm>
          <a:prstGeom prst="ellipse">
            <a:avLst/>
          </a:prstGeom>
          <a:solidFill>
            <a:srgbClr val="2563EB"/>
          </a:solidFill>
          <a:ln w="12700">
            <a:solidFill>
              <a:srgbClr val="2563EB"/>
            </a:solidFill>
            <a:prstDash val="solid"/>
          </a:ln>
        </p:spPr>
      </p:sp>
      <p:sp>
        <p:nvSpPr>
          <p:cNvPr id="6" name="Text 3"/>
          <p:cNvSpPr txBox="1"/>
          <p:nvPr/>
        </p:nvSpPr>
        <p:spPr>
          <a:xfrm>
            <a:off x="822960" y="148132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502920" y="2011680"/>
            <a:ext cx="1097280" cy="365760"/>
          </a:xfrm>
          <a:prstGeom prst="rect">
            <a:avLst/>
          </a:prstGeom>
          <a:noFill/>
          <a:ln/>
        </p:spPr>
        <p:txBody>
          <a:bodyPr wrap="square" lIns="0" tIns="0" rIns="0" bIns="0" rtlCol="0" anchor="t"/>
          <a:lstStyle/>
          <a:p>
            <a:pPr marL="0" indent="0" algn="ctr">
              <a:buNone/>
            </a:pPr>
            <a:r>
              <a:rPr lang="en-US" sz="1200" b="1" dirty="0">
                <a:solidFill>
                  <a:srgbClr val="0F172A"/>
                </a:solidFill>
                <a:latin typeface="Calibri" pitchFamily="34" charset="0"/>
                <a:ea typeface="Calibri" pitchFamily="34" charset="-122"/>
                <a:cs typeface="Calibri" pitchFamily="34" charset="-120"/>
              </a:rPr>
              <a:t>CSV files</a:t>
            </a:r>
            <a:endParaRPr lang="en-US" sz="1200" dirty="0"/>
          </a:p>
        </p:txBody>
      </p:sp>
      <p:sp>
        <p:nvSpPr>
          <p:cNvPr id="8" name="Text 5"/>
          <p:cNvSpPr txBox="1"/>
          <p:nvPr/>
        </p:nvSpPr>
        <p:spPr>
          <a:xfrm>
            <a:off x="502920" y="2377440"/>
            <a:ext cx="1097280" cy="274320"/>
          </a:xfrm>
          <a:prstGeom prst="rect">
            <a:avLst/>
          </a:prstGeom>
          <a:noFill/>
          <a:ln/>
        </p:spPr>
        <p:txBody>
          <a:bodyPr wrap="square" lIns="0" tIns="0" rIns="0" bIns="0" rtlCol="0" anchor="t"/>
          <a:lstStyle/>
          <a:p>
            <a:pPr marL="0" indent="0" algn="ctr">
              <a:buNone/>
            </a:pPr>
            <a:r>
              <a:rPr lang="en-US" sz="1100" dirty="0">
                <a:solidFill>
                  <a:srgbClr val="64748B"/>
                </a:solidFill>
                <a:latin typeface="Calibri" pitchFamily="34" charset="0"/>
                <a:ea typeface="Calibri" pitchFamily="34" charset="-122"/>
                <a:cs typeface="Calibri" pitchFamily="34" charset="-120"/>
              </a:rPr>
              <a:t>5 datasets</a:t>
            </a:r>
            <a:endParaRPr lang="en-US" sz="1100" dirty="0"/>
          </a:p>
        </p:txBody>
      </p:sp>
      <p:sp>
        <p:nvSpPr>
          <p:cNvPr id="9" name="Text 6"/>
          <p:cNvSpPr txBox="1"/>
          <p:nvPr/>
        </p:nvSpPr>
        <p:spPr>
          <a:xfrm>
            <a:off x="1645920" y="1783080"/>
            <a:ext cx="201168" cy="365760"/>
          </a:xfrm>
          <a:prstGeom prst="rect">
            <a:avLst/>
          </a:prstGeom>
          <a:noFill/>
          <a:ln/>
        </p:spPr>
        <p:txBody>
          <a:bodyPr wrap="square" lIns="0" tIns="0" rIns="0" bIns="0" rtlCol="0" anchor="t"/>
          <a:lstStyle/>
          <a:p>
            <a:pPr marL="0" indent="0" algn="ctr">
              <a:buNone/>
            </a:pPr>
            <a:r>
              <a:rPr lang="en-US" sz="1800" b="1" dirty="0">
                <a:solidFill>
                  <a:srgbClr val="06B6D4"/>
                </a:solidFill>
                <a:latin typeface="Calibri" pitchFamily="34" charset="0"/>
                <a:ea typeface="Calibri" pitchFamily="34" charset="-122"/>
                <a:cs typeface="Calibri" pitchFamily="34" charset="-120"/>
              </a:rPr>
              <a:t>&gt;</a:t>
            </a:r>
            <a:endParaRPr lang="en-US" sz="1800" dirty="0"/>
          </a:p>
        </p:txBody>
      </p:sp>
      <p:sp>
        <p:nvSpPr>
          <p:cNvPr id="10" name="Shape 7"/>
          <p:cNvSpPr/>
          <p:nvPr/>
        </p:nvSpPr>
        <p:spPr>
          <a:xfrm>
            <a:off x="1847088" y="1371600"/>
            <a:ext cx="1188720" cy="1371600"/>
          </a:xfrm>
          <a:prstGeom prst="roundRect">
            <a:avLst>
              <a:gd name="adj" fmla="val 6154"/>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11" name="Shape 8"/>
          <p:cNvSpPr/>
          <p:nvPr/>
        </p:nvSpPr>
        <p:spPr>
          <a:xfrm>
            <a:off x="2212848" y="1481328"/>
            <a:ext cx="457200" cy="457200"/>
          </a:xfrm>
          <a:prstGeom prst="ellipse">
            <a:avLst/>
          </a:prstGeom>
          <a:solidFill>
            <a:srgbClr val="2563EB"/>
          </a:solidFill>
          <a:ln w="12700">
            <a:solidFill>
              <a:srgbClr val="2563EB"/>
            </a:solidFill>
            <a:prstDash val="solid"/>
          </a:ln>
        </p:spPr>
      </p:sp>
      <p:sp>
        <p:nvSpPr>
          <p:cNvPr id="12" name="Text 9"/>
          <p:cNvSpPr txBox="1"/>
          <p:nvPr/>
        </p:nvSpPr>
        <p:spPr>
          <a:xfrm>
            <a:off x="2212848" y="148132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0"/>
          <p:cNvSpPr txBox="1"/>
          <p:nvPr/>
        </p:nvSpPr>
        <p:spPr>
          <a:xfrm>
            <a:off x="1892808" y="2011680"/>
            <a:ext cx="1097280" cy="365760"/>
          </a:xfrm>
          <a:prstGeom prst="rect">
            <a:avLst/>
          </a:prstGeom>
          <a:noFill/>
          <a:ln/>
        </p:spPr>
        <p:txBody>
          <a:bodyPr wrap="square" lIns="0" tIns="0" rIns="0" bIns="0" rtlCol="0" anchor="t"/>
          <a:lstStyle/>
          <a:p>
            <a:pPr marL="0" indent="0" algn="ctr">
              <a:buNone/>
            </a:pPr>
            <a:r>
              <a:rPr lang="en-US" sz="1200" b="1" dirty="0">
                <a:solidFill>
                  <a:srgbClr val="0F172A"/>
                </a:solidFill>
                <a:latin typeface="Calibri" pitchFamily="34" charset="0"/>
                <a:ea typeface="Calibri" pitchFamily="34" charset="-122"/>
                <a:cs typeface="Calibri" pitchFamily="34" charset="-120"/>
              </a:rPr>
              <a:t>Inspection</a:t>
            </a:r>
            <a:endParaRPr lang="en-US" sz="1200" dirty="0"/>
          </a:p>
        </p:txBody>
      </p:sp>
      <p:sp>
        <p:nvSpPr>
          <p:cNvPr id="14" name="Text 11"/>
          <p:cNvSpPr txBox="1"/>
          <p:nvPr/>
        </p:nvSpPr>
        <p:spPr>
          <a:xfrm>
            <a:off x="1892808" y="2377440"/>
            <a:ext cx="1097280" cy="274320"/>
          </a:xfrm>
          <a:prstGeom prst="rect">
            <a:avLst/>
          </a:prstGeom>
          <a:noFill/>
          <a:ln/>
        </p:spPr>
        <p:txBody>
          <a:bodyPr wrap="square" lIns="0" tIns="0" rIns="0" bIns="0" rtlCol="0" anchor="t"/>
          <a:lstStyle/>
          <a:p>
            <a:pPr marL="0" indent="0" algn="ctr">
              <a:buNone/>
            </a:pPr>
            <a:r>
              <a:rPr lang="en-US" sz="1100" dirty="0">
                <a:solidFill>
                  <a:srgbClr val="64748B"/>
                </a:solidFill>
                <a:latin typeface="Calibri" pitchFamily="34" charset="0"/>
                <a:ea typeface="Calibri" pitchFamily="34" charset="-122"/>
                <a:cs typeface="Calibri" pitchFamily="34" charset="-120"/>
              </a:rPr>
              <a:t>Types, nulls</a:t>
            </a:r>
            <a:endParaRPr lang="en-US" sz="1100" dirty="0"/>
          </a:p>
        </p:txBody>
      </p:sp>
      <p:sp>
        <p:nvSpPr>
          <p:cNvPr id="15" name="Text 12"/>
          <p:cNvSpPr txBox="1"/>
          <p:nvPr/>
        </p:nvSpPr>
        <p:spPr>
          <a:xfrm>
            <a:off x="3035808" y="1783080"/>
            <a:ext cx="201168" cy="365760"/>
          </a:xfrm>
          <a:prstGeom prst="rect">
            <a:avLst/>
          </a:prstGeom>
          <a:noFill/>
          <a:ln/>
        </p:spPr>
        <p:txBody>
          <a:bodyPr wrap="square" lIns="0" tIns="0" rIns="0" bIns="0" rtlCol="0" anchor="t"/>
          <a:lstStyle/>
          <a:p>
            <a:pPr marL="0" indent="0" algn="ctr">
              <a:buNone/>
            </a:pPr>
            <a:r>
              <a:rPr lang="en-US" sz="1800" b="1" dirty="0">
                <a:solidFill>
                  <a:srgbClr val="06B6D4"/>
                </a:solidFill>
                <a:latin typeface="Calibri" pitchFamily="34" charset="0"/>
                <a:ea typeface="Calibri" pitchFamily="34" charset="-122"/>
                <a:cs typeface="Calibri" pitchFamily="34" charset="-120"/>
              </a:rPr>
              <a:t>&gt;</a:t>
            </a:r>
            <a:endParaRPr lang="en-US" sz="1800" dirty="0"/>
          </a:p>
        </p:txBody>
      </p:sp>
      <p:sp>
        <p:nvSpPr>
          <p:cNvPr id="16" name="Shape 13"/>
          <p:cNvSpPr/>
          <p:nvPr/>
        </p:nvSpPr>
        <p:spPr>
          <a:xfrm>
            <a:off x="3236976" y="1371600"/>
            <a:ext cx="1188720" cy="1371600"/>
          </a:xfrm>
          <a:prstGeom prst="roundRect">
            <a:avLst>
              <a:gd name="adj" fmla="val 6154"/>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17" name="Shape 14"/>
          <p:cNvSpPr/>
          <p:nvPr/>
        </p:nvSpPr>
        <p:spPr>
          <a:xfrm>
            <a:off x="3602736" y="1481328"/>
            <a:ext cx="457200" cy="457200"/>
          </a:xfrm>
          <a:prstGeom prst="ellipse">
            <a:avLst/>
          </a:prstGeom>
          <a:solidFill>
            <a:srgbClr val="2563EB"/>
          </a:solidFill>
          <a:ln w="12700">
            <a:solidFill>
              <a:srgbClr val="2563EB"/>
            </a:solidFill>
            <a:prstDash val="solid"/>
          </a:ln>
        </p:spPr>
      </p:sp>
      <p:sp>
        <p:nvSpPr>
          <p:cNvPr id="18" name="Text 15"/>
          <p:cNvSpPr txBox="1"/>
          <p:nvPr/>
        </p:nvSpPr>
        <p:spPr>
          <a:xfrm>
            <a:off x="3602736" y="148132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3282696" y="2011680"/>
            <a:ext cx="1097280" cy="365760"/>
          </a:xfrm>
          <a:prstGeom prst="rect">
            <a:avLst/>
          </a:prstGeom>
          <a:noFill/>
          <a:ln/>
        </p:spPr>
        <p:txBody>
          <a:bodyPr wrap="square" lIns="0" tIns="0" rIns="0" bIns="0" rtlCol="0" anchor="t"/>
          <a:lstStyle/>
          <a:p>
            <a:pPr marL="0" indent="0" algn="ctr">
              <a:buNone/>
            </a:pPr>
            <a:r>
              <a:rPr lang="en-US" sz="1200" b="1" dirty="0">
                <a:solidFill>
                  <a:srgbClr val="0F172A"/>
                </a:solidFill>
                <a:latin typeface="Calibri" pitchFamily="34" charset="0"/>
                <a:ea typeface="Calibri" pitchFamily="34" charset="-122"/>
                <a:cs typeface="Calibri" pitchFamily="34" charset="-120"/>
              </a:rPr>
              <a:t>Cleaning</a:t>
            </a:r>
            <a:endParaRPr lang="en-US" sz="1200" dirty="0"/>
          </a:p>
        </p:txBody>
      </p:sp>
      <p:sp>
        <p:nvSpPr>
          <p:cNvPr id="20" name="Text 17"/>
          <p:cNvSpPr txBox="1"/>
          <p:nvPr/>
        </p:nvSpPr>
        <p:spPr>
          <a:xfrm>
            <a:off x="3282696" y="2377440"/>
            <a:ext cx="1097280" cy="274320"/>
          </a:xfrm>
          <a:prstGeom prst="rect">
            <a:avLst/>
          </a:prstGeom>
          <a:noFill/>
          <a:ln/>
        </p:spPr>
        <p:txBody>
          <a:bodyPr wrap="square" lIns="0" tIns="0" rIns="0" bIns="0" rtlCol="0" anchor="t"/>
          <a:lstStyle/>
          <a:p>
            <a:pPr marL="0" indent="0" algn="ctr">
              <a:buNone/>
            </a:pPr>
            <a:r>
              <a:rPr lang="en-US" sz="1100" dirty="0">
                <a:solidFill>
                  <a:srgbClr val="64748B"/>
                </a:solidFill>
                <a:latin typeface="Calibri" pitchFamily="34" charset="0"/>
                <a:ea typeface="Calibri" pitchFamily="34" charset="-122"/>
                <a:cs typeface="Calibri" pitchFamily="34" charset="-120"/>
              </a:rPr>
              <a:t>Rules applied</a:t>
            </a:r>
            <a:endParaRPr lang="en-US" sz="1100" dirty="0"/>
          </a:p>
        </p:txBody>
      </p:sp>
      <p:sp>
        <p:nvSpPr>
          <p:cNvPr id="21" name="Text 18"/>
          <p:cNvSpPr txBox="1"/>
          <p:nvPr/>
        </p:nvSpPr>
        <p:spPr>
          <a:xfrm>
            <a:off x="4425696" y="1783080"/>
            <a:ext cx="201168" cy="365760"/>
          </a:xfrm>
          <a:prstGeom prst="rect">
            <a:avLst/>
          </a:prstGeom>
          <a:noFill/>
          <a:ln/>
        </p:spPr>
        <p:txBody>
          <a:bodyPr wrap="square" lIns="0" tIns="0" rIns="0" bIns="0" rtlCol="0" anchor="t"/>
          <a:lstStyle/>
          <a:p>
            <a:pPr marL="0" indent="0" algn="ctr">
              <a:buNone/>
            </a:pPr>
            <a:r>
              <a:rPr lang="en-US" sz="1800" b="1" dirty="0">
                <a:solidFill>
                  <a:srgbClr val="06B6D4"/>
                </a:solidFill>
                <a:latin typeface="Calibri" pitchFamily="34" charset="0"/>
                <a:ea typeface="Calibri" pitchFamily="34" charset="-122"/>
                <a:cs typeface="Calibri" pitchFamily="34" charset="-120"/>
              </a:rPr>
              <a:t>&gt;</a:t>
            </a:r>
            <a:endParaRPr lang="en-US" sz="1800" dirty="0"/>
          </a:p>
        </p:txBody>
      </p:sp>
      <p:sp>
        <p:nvSpPr>
          <p:cNvPr id="22" name="Shape 19"/>
          <p:cNvSpPr/>
          <p:nvPr/>
        </p:nvSpPr>
        <p:spPr>
          <a:xfrm>
            <a:off x="4626864" y="1371600"/>
            <a:ext cx="1188720" cy="1371600"/>
          </a:xfrm>
          <a:prstGeom prst="roundRect">
            <a:avLst>
              <a:gd name="adj" fmla="val 6154"/>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23" name="Shape 20"/>
          <p:cNvSpPr/>
          <p:nvPr/>
        </p:nvSpPr>
        <p:spPr>
          <a:xfrm>
            <a:off x="4992624" y="1481328"/>
            <a:ext cx="457200" cy="457200"/>
          </a:xfrm>
          <a:prstGeom prst="ellipse">
            <a:avLst/>
          </a:prstGeom>
          <a:solidFill>
            <a:srgbClr val="2563EB"/>
          </a:solidFill>
          <a:ln w="12700">
            <a:solidFill>
              <a:srgbClr val="2563EB"/>
            </a:solidFill>
            <a:prstDash val="solid"/>
          </a:ln>
        </p:spPr>
      </p:sp>
      <p:sp>
        <p:nvSpPr>
          <p:cNvPr id="24" name="Text 21"/>
          <p:cNvSpPr txBox="1"/>
          <p:nvPr/>
        </p:nvSpPr>
        <p:spPr>
          <a:xfrm>
            <a:off x="4992624" y="148132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2"/>
          <p:cNvSpPr txBox="1"/>
          <p:nvPr/>
        </p:nvSpPr>
        <p:spPr>
          <a:xfrm>
            <a:off x="4672584" y="2011680"/>
            <a:ext cx="1097280" cy="365760"/>
          </a:xfrm>
          <a:prstGeom prst="rect">
            <a:avLst/>
          </a:prstGeom>
          <a:noFill/>
          <a:ln/>
        </p:spPr>
        <p:txBody>
          <a:bodyPr wrap="square" lIns="0" tIns="0" rIns="0" bIns="0" rtlCol="0" anchor="t"/>
          <a:lstStyle/>
          <a:p>
            <a:pPr marL="0" indent="0" algn="ctr">
              <a:buNone/>
            </a:pPr>
            <a:r>
              <a:rPr lang="en-US" sz="1200" b="1" dirty="0">
                <a:solidFill>
                  <a:srgbClr val="0F172A"/>
                </a:solidFill>
                <a:latin typeface="Calibri" pitchFamily="34" charset="0"/>
                <a:ea typeface="Calibri" pitchFamily="34" charset="-122"/>
                <a:cs typeface="Calibri" pitchFamily="34" charset="-120"/>
              </a:rPr>
              <a:t>Standardisation</a:t>
            </a:r>
            <a:endParaRPr lang="en-US" sz="1200" dirty="0"/>
          </a:p>
        </p:txBody>
      </p:sp>
      <p:sp>
        <p:nvSpPr>
          <p:cNvPr id="26" name="Text 23"/>
          <p:cNvSpPr txBox="1"/>
          <p:nvPr/>
        </p:nvSpPr>
        <p:spPr>
          <a:xfrm>
            <a:off x="4672584" y="2377440"/>
            <a:ext cx="1097280" cy="274320"/>
          </a:xfrm>
          <a:prstGeom prst="rect">
            <a:avLst/>
          </a:prstGeom>
          <a:noFill/>
          <a:ln/>
        </p:spPr>
        <p:txBody>
          <a:bodyPr wrap="square" lIns="0" tIns="0" rIns="0" bIns="0" rtlCol="0" anchor="t"/>
          <a:lstStyle/>
          <a:p>
            <a:pPr marL="0" indent="0" algn="ctr">
              <a:buNone/>
            </a:pPr>
            <a:r>
              <a:rPr lang="en-US" sz="1100" dirty="0">
                <a:solidFill>
                  <a:srgbClr val="64748B"/>
                </a:solidFill>
                <a:latin typeface="Calibri" pitchFamily="34" charset="0"/>
                <a:ea typeface="Calibri" pitchFamily="34" charset="-122"/>
                <a:cs typeface="Calibri" pitchFamily="34" charset="-120"/>
              </a:rPr>
              <a:t>Names, zones</a:t>
            </a:r>
            <a:endParaRPr lang="en-US" sz="1100" dirty="0"/>
          </a:p>
        </p:txBody>
      </p:sp>
      <p:sp>
        <p:nvSpPr>
          <p:cNvPr id="27" name="Text 24"/>
          <p:cNvSpPr txBox="1"/>
          <p:nvPr/>
        </p:nvSpPr>
        <p:spPr>
          <a:xfrm>
            <a:off x="5815584" y="1783080"/>
            <a:ext cx="201168" cy="365760"/>
          </a:xfrm>
          <a:prstGeom prst="rect">
            <a:avLst/>
          </a:prstGeom>
          <a:noFill/>
          <a:ln/>
        </p:spPr>
        <p:txBody>
          <a:bodyPr wrap="square" lIns="0" tIns="0" rIns="0" bIns="0" rtlCol="0" anchor="t"/>
          <a:lstStyle/>
          <a:p>
            <a:pPr marL="0" indent="0" algn="ctr">
              <a:buNone/>
            </a:pPr>
            <a:r>
              <a:rPr lang="en-US" sz="1800" b="1" dirty="0">
                <a:solidFill>
                  <a:srgbClr val="06B6D4"/>
                </a:solidFill>
                <a:latin typeface="Calibri" pitchFamily="34" charset="0"/>
                <a:ea typeface="Calibri" pitchFamily="34" charset="-122"/>
                <a:cs typeface="Calibri" pitchFamily="34" charset="-120"/>
              </a:rPr>
              <a:t>&gt;</a:t>
            </a:r>
            <a:endParaRPr lang="en-US" sz="1800" dirty="0"/>
          </a:p>
        </p:txBody>
      </p:sp>
      <p:sp>
        <p:nvSpPr>
          <p:cNvPr id="28" name="Shape 25"/>
          <p:cNvSpPr/>
          <p:nvPr/>
        </p:nvSpPr>
        <p:spPr>
          <a:xfrm>
            <a:off x="6016752" y="1371600"/>
            <a:ext cx="1188720" cy="1371600"/>
          </a:xfrm>
          <a:prstGeom prst="roundRect">
            <a:avLst>
              <a:gd name="adj" fmla="val 6154"/>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29" name="Shape 26"/>
          <p:cNvSpPr/>
          <p:nvPr/>
        </p:nvSpPr>
        <p:spPr>
          <a:xfrm>
            <a:off x="6382512" y="1481328"/>
            <a:ext cx="457200" cy="457200"/>
          </a:xfrm>
          <a:prstGeom prst="ellipse">
            <a:avLst/>
          </a:prstGeom>
          <a:solidFill>
            <a:srgbClr val="2563EB"/>
          </a:solidFill>
          <a:ln w="12700">
            <a:solidFill>
              <a:srgbClr val="2563EB"/>
            </a:solidFill>
            <a:prstDash val="solid"/>
          </a:ln>
        </p:spPr>
      </p:sp>
      <p:sp>
        <p:nvSpPr>
          <p:cNvPr id="30" name="Text 27"/>
          <p:cNvSpPr txBox="1"/>
          <p:nvPr/>
        </p:nvSpPr>
        <p:spPr>
          <a:xfrm>
            <a:off x="6382512" y="148132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8"/>
          <p:cNvSpPr txBox="1"/>
          <p:nvPr/>
        </p:nvSpPr>
        <p:spPr>
          <a:xfrm>
            <a:off x="6062472" y="2011680"/>
            <a:ext cx="1097280" cy="365760"/>
          </a:xfrm>
          <a:prstGeom prst="rect">
            <a:avLst/>
          </a:prstGeom>
          <a:noFill/>
          <a:ln/>
        </p:spPr>
        <p:txBody>
          <a:bodyPr wrap="square" lIns="0" tIns="0" rIns="0" bIns="0" rtlCol="0" anchor="t"/>
          <a:lstStyle/>
          <a:p>
            <a:pPr marL="0" indent="0" algn="ctr">
              <a:buNone/>
            </a:pPr>
            <a:r>
              <a:rPr lang="en-US" sz="1200" b="1" dirty="0">
                <a:solidFill>
                  <a:srgbClr val="0F172A"/>
                </a:solidFill>
                <a:latin typeface="Calibri" pitchFamily="34" charset="0"/>
                <a:ea typeface="Calibri" pitchFamily="34" charset="-122"/>
                <a:cs typeface="Calibri" pitchFamily="34" charset="-120"/>
              </a:rPr>
              <a:t>Integration</a:t>
            </a:r>
            <a:endParaRPr lang="en-US" sz="1200" dirty="0"/>
          </a:p>
        </p:txBody>
      </p:sp>
      <p:sp>
        <p:nvSpPr>
          <p:cNvPr id="32" name="Text 29"/>
          <p:cNvSpPr txBox="1"/>
          <p:nvPr/>
        </p:nvSpPr>
        <p:spPr>
          <a:xfrm>
            <a:off x="6062472" y="2377440"/>
            <a:ext cx="1097280" cy="274320"/>
          </a:xfrm>
          <a:prstGeom prst="rect">
            <a:avLst/>
          </a:prstGeom>
          <a:noFill/>
          <a:ln/>
        </p:spPr>
        <p:txBody>
          <a:bodyPr wrap="square" lIns="0" tIns="0" rIns="0" bIns="0" rtlCol="0" anchor="t"/>
          <a:lstStyle/>
          <a:p>
            <a:pPr marL="0" indent="0" algn="ctr">
              <a:buNone/>
            </a:pPr>
            <a:r>
              <a:rPr lang="en-US" sz="1100" dirty="0">
                <a:solidFill>
                  <a:srgbClr val="64748B"/>
                </a:solidFill>
                <a:latin typeface="Calibri" pitchFamily="34" charset="0"/>
                <a:ea typeface="Calibri" pitchFamily="34" charset="-122"/>
                <a:cs typeface="Calibri" pitchFamily="34" charset="-120"/>
              </a:rPr>
              <a:t>Merged on keys</a:t>
            </a:r>
            <a:endParaRPr lang="en-US" sz="1100" dirty="0"/>
          </a:p>
        </p:txBody>
      </p:sp>
      <p:sp>
        <p:nvSpPr>
          <p:cNvPr id="33" name="Text 30"/>
          <p:cNvSpPr txBox="1"/>
          <p:nvPr/>
        </p:nvSpPr>
        <p:spPr>
          <a:xfrm>
            <a:off x="7205472" y="1783080"/>
            <a:ext cx="201168" cy="365760"/>
          </a:xfrm>
          <a:prstGeom prst="rect">
            <a:avLst/>
          </a:prstGeom>
          <a:noFill/>
          <a:ln/>
        </p:spPr>
        <p:txBody>
          <a:bodyPr wrap="square" lIns="0" tIns="0" rIns="0" bIns="0" rtlCol="0" anchor="t"/>
          <a:lstStyle/>
          <a:p>
            <a:pPr marL="0" indent="0" algn="ctr">
              <a:buNone/>
            </a:pPr>
            <a:r>
              <a:rPr lang="en-US" sz="1800" b="1" dirty="0">
                <a:solidFill>
                  <a:srgbClr val="06B6D4"/>
                </a:solidFill>
                <a:latin typeface="Calibri" pitchFamily="34" charset="0"/>
                <a:ea typeface="Calibri" pitchFamily="34" charset="-122"/>
                <a:cs typeface="Calibri" pitchFamily="34" charset="-120"/>
              </a:rPr>
              <a:t>&gt;</a:t>
            </a:r>
            <a:endParaRPr lang="en-US" sz="1800" dirty="0"/>
          </a:p>
        </p:txBody>
      </p:sp>
      <p:sp>
        <p:nvSpPr>
          <p:cNvPr id="34" name="Shape 31"/>
          <p:cNvSpPr/>
          <p:nvPr/>
        </p:nvSpPr>
        <p:spPr>
          <a:xfrm>
            <a:off x="7406640" y="1371600"/>
            <a:ext cx="1188720" cy="1371600"/>
          </a:xfrm>
          <a:prstGeom prst="roundRect">
            <a:avLst>
              <a:gd name="adj" fmla="val 6154"/>
            </a:avLst>
          </a:prstGeom>
          <a:solidFill>
            <a:srgbClr val="22C55E"/>
          </a:solidFill>
          <a:ln w="9525">
            <a:solidFill>
              <a:srgbClr val="22C55E"/>
            </a:solidFill>
            <a:prstDash val="solid"/>
          </a:ln>
        </p:spPr>
      </p:sp>
      <p:sp>
        <p:nvSpPr>
          <p:cNvPr id="35" name="Shape 32"/>
          <p:cNvSpPr/>
          <p:nvPr/>
        </p:nvSpPr>
        <p:spPr>
          <a:xfrm>
            <a:off x="7772400" y="1481328"/>
            <a:ext cx="457200" cy="457200"/>
          </a:xfrm>
          <a:prstGeom prst="ellipse">
            <a:avLst/>
          </a:prstGeom>
          <a:solidFill>
            <a:srgbClr val="0F172A"/>
          </a:solidFill>
          <a:ln w="12700">
            <a:solidFill>
              <a:srgbClr val="0F172A"/>
            </a:solidFill>
            <a:prstDash val="solid"/>
          </a:ln>
        </p:spPr>
      </p:sp>
      <p:sp>
        <p:nvSpPr>
          <p:cNvPr id="36" name="Text 33"/>
          <p:cNvSpPr txBox="1"/>
          <p:nvPr/>
        </p:nvSpPr>
        <p:spPr>
          <a:xfrm>
            <a:off x="7772400" y="148132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7" name="Text 34"/>
          <p:cNvSpPr txBox="1"/>
          <p:nvPr/>
        </p:nvSpPr>
        <p:spPr>
          <a:xfrm>
            <a:off x="7452360" y="2011680"/>
            <a:ext cx="1097280" cy="365760"/>
          </a:xfrm>
          <a:prstGeom prst="rect">
            <a:avLst/>
          </a:prstGeom>
          <a:noFill/>
          <a:ln/>
        </p:spPr>
        <p:txBody>
          <a:bodyPr wrap="square" lIns="0" tIns="0" rIns="0" bIns="0" rtlCol="0" anchor="t"/>
          <a:lstStyle/>
          <a:p>
            <a:pPr marL="0" indent="0" algn="ctr">
              <a:buNone/>
            </a:pPr>
            <a:r>
              <a:rPr lang="en-US" sz="1200" b="1" dirty="0">
                <a:solidFill>
                  <a:srgbClr val="0F172A"/>
                </a:solidFill>
                <a:latin typeface="Calibri" pitchFamily="34" charset="0"/>
                <a:ea typeface="Calibri" pitchFamily="34" charset="-122"/>
                <a:cs typeface="Calibri" pitchFamily="34" charset="-120"/>
              </a:rPr>
              <a:t>Analysis-ready</a:t>
            </a:r>
            <a:endParaRPr lang="en-US" sz="1200" dirty="0"/>
          </a:p>
        </p:txBody>
      </p:sp>
      <p:sp>
        <p:nvSpPr>
          <p:cNvPr id="38" name="Text 35"/>
          <p:cNvSpPr txBox="1"/>
          <p:nvPr/>
        </p:nvSpPr>
        <p:spPr>
          <a:xfrm>
            <a:off x="7452360" y="2377440"/>
            <a:ext cx="1097280" cy="274320"/>
          </a:xfrm>
          <a:prstGeom prst="rect">
            <a:avLst/>
          </a:prstGeom>
          <a:noFill/>
          <a:ln/>
        </p:spPr>
        <p:txBody>
          <a:bodyPr wrap="square" lIns="0" tIns="0" rIns="0" bIns="0" rtlCol="0" anchor="t"/>
          <a:lstStyle/>
          <a:p>
            <a:pPr marL="0" indent="0" algn="ctr">
              <a:buNone/>
            </a:pPr>
            <a:r>
              <a:rPr lang="en-US" sz="1100" dirty="0">
                <a:solidFill>
                  <a:srgbClr val="0F172A"/>
                </a:solidFill>
                <a:latin typeface="Calibri" pitchFamily="34" charset="0"/>
                <a:ea typeface="Calibri" pitchFamily="34" charset="-122"/>
                <a:cs typeface="Calibri" pitchFamily="34" charset="-120"/>
              </a:rPr>
              <a:t>Clean dataset</a:t>
            </a:r>
            <a:endParaRPr lang="en-US" sz="1100" dirty="0"/>
          </a:p>
        </p:txBody>
      </p:sp>
      <p:sp>
        <p:nvSpPr>
          <p:cNvPr id="39" name="Shape 36"/>
          <p:cNvSpPr/>
          <p:nvPr/>
        </p:nvSpPr>
        <p:spPr>
          <a:xfrm>
            <a:off x="457200" y="3108960"/>
            <a:ext cx="8229600" cy="1417320"/>
          </a:xfrm>
          <a:prstGeom prst="roundRect">
            <a:avLst>
              <a:gd name="adj" fmla="val 5161"/>
            </a:avLst>
          </a:prstGeom>
          <a:solidFill>
            <a:srgbClr val="0F172A"/>
          </a:solidFill>
          <a:ln w="9525">
            <a:solidFill>
              <a:srgbClr val="0F172A"/>
            </a:solidFill>
            <a:prstDash val="solid"/>
          </a:ln>
        </p:spPr>
      </p:sp>
      <p:sp>
        <p:nvSpPr>
          <p:cNvPr id="40" name="Text 37"/>
          <p:cNvSpPr txBox="1"/>
          <p:nvPr/>
        </p:nvSpPr>
        <p:spPr>
          <a:xfrm>
            <a:off x="731520" y="3246120"/>
            <a:ext cx="2377440" cy="1097280"/>
          </a:xfrm>
          <a:prstGeom prst="rect">
            <a:avLst/>
          </a:prstGeom>
          <a:noFill/>
          <a:ln/>
        </p:spPr>
        <p:txBody>
          <a:bodyPr wrap="square" lIns="0" tIns="0" rIns="0" bIns="0" rtlCol="0" anchor="ctr"/>
          <a:lstStyle/>
          <a:p>
            <a:pPr marL="0" indent="0">
              <a:buNone/>
            </a:pPr>
            <a:r>
              <a:rPr lang="en-US" sz="6600" b="1" dirty="0">
                <a:solidFill>
                  <a:srgbClr val="22C55E"/>
                </a:solidFill>
                <a:latin typeface="Calibri" pitchFamily="34" charset="0"/>
                <a:ea typeface="Calibri" pitchFamily="34" charset="-122"/>
                <a:cs typeface="Calibri" pitchFamily="34" charset="-120"/>
              </a:rPr>
              <a:t>492</a:t>
            </a:r>
            <a:endParaRPr lang="en-US" sz="6600" dirty="0"/>
          </a:p>
        </p:txBody>
      </p:sp>
      <p:sp>
        <p:nvSpPr>
          <p:cNvPr id="41" name="Text 38"/>
          <p:cNvSpPr txBox="1"/>
          <p:nvPr/>
        </p:nvSpPr>
        <p:spPr>
          <a:xfrm>
            <a:off x="3200400" y="3383280"/>
            <a:ext cx="5303520" cy="10058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cleaned parking session records</a:t>
            </a:r>
            <a:endParaRPr lang="en-US" sz="1400" dirty="0"/>
          </a:p>
          <a:p>
            <a:pPr marL="0" indent="0">
              <a:buNone/>
            </a:pPr>
            <a:r>
              <a:rPr lang="en-US" sz="1400" dirty="0">
                <a:solidFill>
                  <a:srgbClr val="CBD5E1"/>
                </a:solidFill>
                <a:latin typeface="Calibri" pitchFamily="34" charset="0"/>
                <a:ea typeface="Calibri" pitchFamily="34" charset="-122"/>
                <a:cs typeface="Calibri" pitchFamily="34" charset="-120"/>
              </a:rPr>
              <a:t>from 500 original sessions, joined with zone, payment, calendar and weather data</a:t>
            </a:r>
            <a:endParaRPr lang="en-US" sz="1400" dirty="0"/>
          </a:p>
        </p:txBody>
      </p:sp>
      <p:sp>
        <p:nvSpPr>
          <p:cNvPr id="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28600"/>
            <a:ext cx="822960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Feature Engineering and Analytical Methods</a:t>
            </a:r>
            <a:endParaRPr lang="en-US" sz="3000" dirty="0"/>
          </a:p>
        </p:txBody>
      </p:sp>
      <p:sp>
        <p:nvSpPr>
          <p:cNvPr id="4" name="Text 1"/>
          <p:cNvSpPr txBox="1"/>
          <p:nvPr/>
        </p:nvSpPr>
        <p:spPr>
          <a:xfrm>
            <a:off x="457200" y="1005840"/>
            <a:ext cx="4023360" cy="320040"/>
          </a:xfrm>
          <a:prstGeom prst="rect">
            <a:avLst/>
          </a:prstGeom>
          <a:noFill/>
          <a:ln/>
        </p:spPr>
        <p:txBody>
          <a:bodyPr wrap="square" lIns="0" tIns="0" rIns="0" bIns="0" rtlCol="0" anchor="t"/>
          <a:lstStyle/>
          <a:p>
            <a:pPr marL="0" indent="0">
              <a:buNone/>
            </a:pPr>
            <a:r>
              <a:rPr lang="en-US" sz="1800" b="1" dirty="0">
                <a:solidFill>
                  <a:srgbClr val="2563EB"/>
                </a:solidFill>
                <a:latin typeface="Calibri" pitchFamily="34" charset="0"/>
                <a:ea typeface="Calibri" pitchFamily="34" charset="-122"/>
                <a:cs typeface="Calibri" pitchFamily="34" charset="-120"/>
              </a:rPr>
              <a:t>Engineered features</a:t>
            </a:r>
            <a:endParaRPr lang="en-US" sz="1800" dirty="0"/>
          </a:p>
        </p:txBody>
      </p:sp>
      <p:sp>
        <p:nvSpPr>
          <p:cNvPr id="5" name="Shape 2"/>
          <p:cNvSpPr/>
          <p:nvPr/>
        </p:nvSpPr>
        <p:spPr>
          <a:xfrm>
            <a:off x="457200" y="1417320"/>
            <a:ext cx="1965960" cy="420624"/>
          </a:xfrm>
          <a:prstGeom prst="roundRect">
            <a:avLst>
              <a:gd name="adj" fmla="val 54348"/>
            </a:avLst>
          </a:prstGeom>
          <a:solidFill>
            <a:srgbClr val="2563EB"/>
          </a:solidFill>
          <a:ln w="12700">
            <a:solidFill>
              <a:srgbClr val="FFFFFF"/>
            </a:solidFill>
            <a:prstDash val="solid"/>
          </a:ln>
        </p:spPr>
      </p:sp>
      <p:sp>
        <p:nvSpPr>
          <p:cNvPr id="6" name="Text 3"/>
          <p:cNvSpPr txBox="1"/>
          <p:nvPr/>
        </p:nvSpPr>
        <p:spPr>
          <a:xfrm>
            <a:off x="457200" y="1417320"/>
            <a:ext cx="1965960"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Entry hour</a:t>
            </a:r>
            <a:endParaRPr lang="en-US" sz="1200" dirty="0"/>
          </a:p>
        </p:txBody>
      </p:sp>
      <p:sp>
        <p:nvSpPr>
          <p:cNvPr id="7" name="Shape 4"/>
          <p:cNvSpPr/>
          <p:nvPr/>
        </p:nvSpPr>
        <p:spPr>
          <a:xfrm>
            <a:off x="2514600" y="1417320"/>
            <a:ext cx="1965960" cy="420624"/>
          </a:xfrm>
          <a:prstGeom prst="roundRect">
            <a:avLst>
              <a:gd name="adj" fmla="val 54348"/>
            </a:avLst>
          </a:prstGeom>
          <a:solidFill>
            <a:srgbClr val="06B6D4"/>
          </a:solidFill>
          <a:ln w="12700">
            <a:solidFill>
              <a:srgbClr val="FFFFFF"/>
            </a:solidFill>
            <a:prstDash val="solid"/>
          </a:ln>
        </p:spPr>
      </p:sp>
      <p:sp>
        <p:nvSpPr>
          <p:cNvPr id="8" name="Text 5"/>
          <p:cNvSpPr txBox="1"/>
          <p:nvPr/>
        </p:nvSpPr>
        <p:spPr>
          <a:xfrm>
            <a:off x="2514600" y="1417320"/>
            <a:ext cx="1965960"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Date, day of week</a:t>
            </a:r>
            <a:endParaRPr lang="en-US" sz="1200" dirty="0"/>
          </a:p>
        </p:txBody>
      </p:sp>
      <p:sp>
        <p:nvSpPr>
          <p:cNvPr id="9" name="Shape 6"/>
          <p:cNvSpPr/>
          <p:nvPr/>
        </p:nvSpPr>
        <p:spPr>
          <a:xfrm>
            <a:off x="457200" y="1920240"/>
            <a:ext cx="1965960" cy="420624"/>
          </a:xfrm>
          <a:prstGeom prst="roundRect">
            <a:avLst>
              <a:gd name="adj" fmla="val 54348"/>
            </a:avLst>
          </a:prstGeom>
          <a:solidFill>
            <a:srgbClr val="0E7490"/>
          </a:solidFill>
          <a:ln w="12700">
            <a:solidFill>
              <a:srgbClr val="FFFFFF"/>
            </a:solidFill>
            <a:prstDash val="solid"/>
          </a:ln>
        </p:spPr>
      </p:sp>
      <p:sp>
        <p:nvSpPr>
          <p:cNvPr id="10" name="Text 7"/>
          <p:cNvSpPr txBox="1"/>
          <p:nvPr/>
        </p:nvSpPr>
        <p:spPr>
          <a:xfrm>
            <a:off x="457200" y="1920240"/>
            <a:ext cx="1965960"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Weekend indicator</a:t>
            </a:r>
            <a:endParaRPr lang="en-US" sz="1200" dirty="0"/>
          </a:p>
        </p:txBody>
      </p:sp>
      <p:sp>
        <p:nvSpPr>
          <p:cNvPr id="11" name="Shape 8"/>
          <p:cNvSpPr/>
          <p:nvPr/>
        </p:nvSpPr>
        <p:spPr>
          <a:xfrm>
            <a:off x="2514600" y="1920240"/>
            <a:ext cx="1965960" cy="420624"/>
          </a:xfrm>
          <a:prstGeom prst="roundRect">
            <a:avLst>
              <a:gd name="adj" fmla="val 54348"/>
            </a:avLst>
          </a:prstGeom>
          <a:solidFill>
            <a:srgbClr val="2563EB"/>
          </a:solidFill>
          <a:ln w="12700">
            <a:solidFill>
              <a:srgbClr val="FFFFFF"/>
            </a:solidFill>
            <a:prstDash val="solid"/>
          </a:ln>
        </p:spPr>
      </p:sp>
      <p:sp>
        <p:nvSpPr>
          <p:cNvPr id="12" name="Text 9"/>
          <p:cNvSpPr txBox="1"/>
          <p:nvPr/>
        </p:nvSpPr>
        <p:spPr>
          <a:xfrm>
            <a:off x="2514600" y="1920240"/>
            <a:ext cx="1965960"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Time period</a:t>
            </a:r>
            <a:endParaRPr lang="en-US" sz="1200" dirty="0"/>
          </a:p>
        </p:txBody>
      </p:sp>
      <p:sp>
        <p:nvSpPr>
          <p:cNvPr id="13" name="Shape 10"/>
          <p:cNvSpPr/>
          <p:nvPr/>
        </p:nvSpPr>
        <p:spPr>
          <a:xfrm>
            <a:off x="457200" y="2423160"/>
            <a:ext cx="1965960" cy="420624"/>
          </a:xfrm>
          <a:prstGeom prst="roundRect">
            <a:avLst>
              <a:gd name="adj" fmla="val 54348"/>
            </a:avLst>
          </a:prstGeom>
          <a:solidFill>
            <a:srgbClr val="06B6D4"/>
          </a:solidFill>
          <a:ln w="12700">
            <a:solidFill>
              <a:srgbClr val="FFFFFF"/>
            </a:solidFill>
            <a:prstDash val="solid"/>
          </a:ln>
        </p:spPr>
      </p:sp>
      <p:sp>
        <p:nvSpPr>
          <p:cNvPr id="14" name="Text 11"/>
          <p:cNvSpPr txBox="1"/>
          <p:nvPr/>
        </p:nvSpPr>
        <p:spPr>
          <a:xfrm>
            <a:off x="457200" y="2423160"/>
            <a:ext cx="1965960"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Parking duration</a:t>
            </a:r>
            <a:endParaRPr lang="en-US" sz="1200" dirty="0"/>
          </a:p>
        </p:txBody>
      </p:sp>
      <p:sp>
        <p:nvSpPr>
          <p:cNvPr id="15" name="Shape 12"/>
          <p:cNvSpPr/>
          <p:nvPr/>
        </p:nvSpPr>
        <p:spPr>
          <a:xfrm>
            <a:off x="2514600" y="2423160"/>
            <a:ext cx="1965960" cy="420624"/>
          </a:xfrm>
          <a:prstGeom prst="roundRect">
            <a:avLst>
              <a:gd name="adj" fmla="val 54348"/>
            </a:avLst>
          </a:prstGeom>
          <a:solidFill>
            <a:srgbClr val="0E7490"/>
          </a:solidFill>
          <a:ln w="12700">
            <a:solidFill>
              <a:srgbClr val="FFFFFF"/>
            </a:solidFill>
            <a:prstDash val="solid"/>
          </a:ln>
        </p:spPr>
      </p:sp>
      <p:sp>
        <p:nvSpPr>
          <p:cNvPr id="16" name="Text 13"/>
          <p:cNvSpPr txBox="1"/>
          <p:nvPr/>
        </p:nvSpPr>
        <p:spPr>
          <a:xfrm>
            <a:off x="2514600" y="2423160"/>
            <a:ext cx="1965960"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Zone and zone type</a:t>
            </a:r>
            <a:endParaRPr lang="en-US" sz="1200" dirty="0"/>
          </a:p>
        </p:txBody>
      </p:sp>
      <p:sp>
        <p:nvSpPr>
          <p:cNvPr id="17" name="Shape 14"/>
          <p:cNvSpPr/>
          <p:nvPr/>
        </p:nvSpPr>
        <p:spPr>
          <a:xfrm>
            <a:off x="457200" y="2926080"/>
            <a:ext cx="1965960" cy="420624"/>
          </a:xfrm>
          <a:prstGeom prst="roundRect">
            <a:avLst>
              <a:gd name="adj" fmla="val 54348"/>
            </a:avLst>
          </a:prstGeom>
          <a:solidFill>
            <a:srgbClr val="2563EB"/>
          </a:solidFill>
          <a:ln w="12700">
            <a:solidFill>
              <a:srgbClr val="FFFFFF"/>
            </a:solidFill>
            <a:prstDash val="solid"/>
          </a:ln>
        </p:spPr>
      </p:sp>
      <p:sp>
        <p:nvSpPr>
          <p:cNvPr id="18" name="Text 15"/>
          <p:cNvSpPr txBox="1"/>
          <p:nvPr/>
        </p:nvSpPr>
        <p:spPr>
          <a:xfrm>
            <a:off x="457200" y="2926080"/>
            <a:ext cx="1965960"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Capacity</a:t>
            </a:r>
            <a:endParaRPr lang="en-US" sz="1200" dirty="0"/>
          </a:p>
        </p:txBody>
      </p:sp>
      <p:sp>
        <p:nvSpPr>
          <p:cNvPr id="19" name="Shape 16"/>
          <p:cNvSpPr/>
          <p:nvPr/>
        </p:nvSpPr>
        <p:spPr>
          <a:xfrm>
            <a:off x="2514600" y="2926080"/>
            <a:ext cx="1965960" cy="420624"/>
          </a:xfrm>
          <a:prstGeom prst="roundRect">
            <a:avLst>
              <a:gd name="adj" fmla="val 54348"/>
            </a:avLst>
          </a:prstGeom>
          <a:solidFill>
            <a:srgbClr val="06B6D4"/>
          </a:solidFill>
          <a:ln w="12700">
            <a:solidFill>
              <a:srgbClr val="FFFFFF"/>
            </a:solidFill>
            <a:prstDash val="solid"/>
          </a:ln>
        </p:spPr>
      </p:sp>
      <p:sp>
        <p:nvSpPr>
          <p:cNvPr id="20" name="Text 17"/>
          <p:cNvSpPr txBox="1"/>
          <p:nvPr/>
        </p:nvSpPr>
        <p:spPr>
          <a:xfrm>
            <a:off x="2514600" y="2926080"/>
            <a:ext cx="1965960"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Event-day indicator</a:t>
            </a:r>
            <a:endParaRPr lang="en-US" sz="1200" dirty="0"/>
          </a:p>
        </p:txBody>
      </p:sp>
      <p:sp>
        <p:nvSpPr>
          <p:cNvPr id="21" name="Shape 18"/>
          <p:cNvSpPr/>
          <p:nvPr/>
        </p:nvSpPr>
        <p:spPr>
          <a:xfrm>
            <a:off x="457200" y="3429000"/>
            <a:ext cx="1965960" cy="420624"/>
          </a:xfrm>
          <a:prstGeom prst="roundRect">
            <a:avLst>
              <a:gd name="adj" fmla="val 54348"/>
            </a:avLst>
          </a:prstGeom>
          <a:solidFill>
            <a:srgbClr val="0E7490"/>
          </a:solidFill>
          <a:ln w="12700">
            <a:solidFill>
              <a:srgbClr val="FFFFFF"/>
            </a:solidFill>
            <a:prstDash val="solid"/>
          </a:ln>
        </p:spPr>
      </p:sp>
      <p:sp>
        <p:nvSpPr>
          <p:cNvPr id="22" name="Text 19"/>
          <p:cNvSpPr txBox="1"/>
          <p:nvPr/>
        </p:nvSpPr>
        <p:spPr>
          <a:xfrm>
            <a:off x="457200" y="3429000"/>
            <a:ext cx="1965960"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Rainfall, temperature</a:t>
            </a:r>
            <a:endParaRPr lang="en-US" sz="1200" dirty="0"/>
          </a:p>
        </p:txBody>
      </p:sp>
      <p:sp>
        <p:nvSpPr>
          <p:cNvPr id="23" name="Text 20"/>
          <p:cNvSpPr txBox="1"/>
          <p:nvPr/>
        </p:nvSpPr>
        <p:spPr>
          <a:xfrm>
            <a:off x="4754880" y="1005840"/>
            <a:ext cx="3931920" cy="320040"/>
          </a:xfrm>
          <a:prstGeom prst="rect">
            <a:avLst/>
          </a:prstGeom>
          <a:noFill/>
          <a:ln/>
        </p:spPr>
        <p:txBody>
          <a:bodyPr wrap="square" lIns="0" tIns="0" rIns="0" bIns="0" rtlCol="0" anchor="t"/>
          <a:lstStyle/>
          <a:p>
            <a:pPr marL="0" indent="0">
              <a:buNone/>
            </a:pPr>
            <a:r>
              <a:rPr lang="en-US" sz="1800" b="1" dirty="0">
                <a:solidFill>
                  <a:srgbClr val="2563EB"/>
                </a:solidFill>
                <a:latin typeface="Calibri" pitchFamily="34" charset="0"/>
                <a:ea typeface="Calibri" pitchFamily="34" charset="-122"/>
                <a:cs typeface="Calibri" pitchFamily="34" charset="-120"/>
              </a:rPr>
              <a:t>Analytical methods</a:t>
            </a:r>
            <a:endParaRPr lang="en-US" sz="1800" dirty="0"/>
          </a:p>
        </p:txBody>
      </p:sp>
      <p:sp>
        <p:nvSpPr>
          <p:cNvPr id="24" name="Shape 21"/>
          <p:cNvSpPr/>
          <p:nvPr/>
        </p:nvSpPr>
        <p:spPr>
          <a:xfrm>
            <a:off x="4754880" y="1417320"/>
            <a:ext cx="3931920" cy="621792"/>
          </a:xfrm>
          <a:prstGeom prst="roundRect">
            <a:avLst>
              <a:gd name="adj" fmla="val 11765"/>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25" name="Shape 22"/>
          <p:cNvSpPr/>
          <p:nvPr/>
        </p:nvSpPr>
        <p:spPr>
          <a:xfrm>
            <a:off x="4892040" y="1527048"/>
            <a:ext cx="402336" cy="402336"/>
          </a:xfrm>
          <a:prstGeom prst="ellipse">
            <a:avLst/>
          </a:prstGeom>
          <a:solidFill>
            <a:srgbClr val="2563EB"/>
          </a:solidFill>
          <a:ln w="12700">
            <a:solidFill>
              <a:srgbClr val="2563EB"/>
            </a:solidFill>
            <a:prstDash val="solid"/>
          </a:ln>
        </p:spPr>
      </p:sp>
      <p:sp>
        <p:nvSpPr>
          <p:cNvPr id="26" name="Text 23"/>
          <p:cNvSpPr txBox="1"/>
          <p:nvPr/>
        </p:nvSpPr>
        <p:spPr>
          <a:xfrm>
            <a:off x="4892040" y="152704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7" name="Text 24"/>
          <p:cNvSpPr txBox="1"/>
          <p:nvPr/>
        </p:nvSpPr>
        <p:spPr>
          <a:xfrm>
            <a:off x="5486400" y="1417320"/>
            <a:ext cx="3108960" cy="621792"/>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Descriptive statistics</a:t>
            </a:r>
            <a:endParaRPr lang="en-US" sz="1500" dirty="0"/>
          </a:p>
        </p:txBody>
      </p:sp>
      <p:sp>
        <p:nvSpPr>
          <p:cNvPr id="28" name="Shape 25"/>
          <p:cNvSpPr/>
          <p:nvPr/>
        </p:nvSpPr>
        <p:spPr>
          <a:xfrm>
            <a:off x="4754880" y="2148840"/>
            <a:ext cx="3931920" cy="621792"/>
          </a:xfrm>
          <a:prstGeom prst="roundRect">
            <a:avLst>
              <a:gd name="adj" fmla="val 11765"/>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29" name="Shape 26"/>
          <p:cNvSpPr/>
          <p:nvPr/>
        </p:nvSpPr>
        <p:spPr>
          <a:xfrm>
            <a:off x="4892040" y="2258568"/>
            <a:ext cx="402336" cy="402336"/>
          </a:xfrm>
          <a:prstGeom prst="ellipse">
            <a:avLst/>
          </a:prstGeom>
          <a:solidFill>
            <a:srgbClr val="06B6D4"/>
          </a:solidFill>
          <a:ln w="12700">
            <a:solidFill>
              <a:srgbClr val="06B6D4"/>
            </a:solidFill>
            <a:prstDash val="solid"/>
          </a:ln>
        </p:spPr>
      </p:sp>
      <p:sp>
        <p:nvSpPr>
          <p:cNvPr id="30" name="Text 27"/>
          <p:cNvSpPr txBox="1"/>
          <p:nvPr/>
        </p:nvSpPr>
        <p:spPr>
          <a:xfrm>
            <a:off x="4892040" y="225856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1" name="Text 28"/>
          <p:cNvSpPr txBox="1"/>
          <p:nvPr/>
        </p:nvSpPr>
        <p:spPr>
          <a:xfrm>
            <a:off x="5486400" y="2148840"/>
            <a:ext cx="3108960" cy="621792"/>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Grouping and aggregation</a:t>
            </a:r>
            <a:endParaRPr lang="en-US" sz="1500" dirty="0"/>
          </a:p>
        </p:txBody>
      </p:sp>
      <p:sp>
        <p:nvSpPr>
          <p:cNvPr id="32" name="Shape 29"/>
          <p:cNvSpPr/>
          <p:nvPr/>
        </p:nvSpPr>
        <p:spPr>
          <a:xfrm>
            <a:off x="4754880" y="2880360"/>
            <a:ext cx="3931920" cy="621792"/>
          </a:xfrm>
          <a:prstGeom prst="roundRect">
            <a:avLst>
              <a:gd name="adj" fmla="val 11765"/>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33" name="Shape 30"/>
          <p:cNvSpPr/>
          <p:nvPr/>
        </p:nvSpPr>
        <p:spPr>
          <a:xfrm>
            <a:off x="4892040" y="2990088"/>
            <a:ext cx="402336" cy="402336"/>
          </a:xfrm>
          <a:prstGeom prst="ellipse">
            <a:avLst/>
          </a:prstGeom>
          <a:solidFill>
            <a:srgbClr val="22C55E"/>
          </a:solidFill>
          <a:ln w="12700">
            <a:solidFill>
              <a:srgbClr val="22C55E"/>
            </a:solidFill>
            <a:prstDash val="solid"/>
          </a:ln>
        </p:spPr>
      </p:sp>
      <p:sp>
        <p:nvSpPr>
          <p:cNvPr id="34" name="Text 31"/>
          <p:cNvSpPr txBox="1"/>
          <p:nvPr/>
        </p:nvSpPr>
        <p:spPr>
          <a:xfrm>
            <a:off x="4892040" y="299008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5" name="Text 32"/>
          <p:cNvSpPr txBox="1"/>
          <p:nvPr/>
        </p:nvSpPr>
        <p:spPr>
          <a:xfrm>
            <a:off x="5486400" y="2880360"/>
            <a:ext cx="3108960" cy="621792"/>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Correlation analysis</a:t>
            </a:r>
            <a:endParaRPr lang="en-US" sz="1500" dirty="0"/>
          </a:p>
        </p:txBody>
      </p:sp>
      <p:sp>
        <p:nvSpPr>
          <p:cNvPr id="36" name="Shape 33"/>
          <p:cNvSpPr/>
          <p:nvPr/>
        </p:nvSpPr>
        <p:spPr>
          <a:xfrm>
            <a:off x="4754880" y="3611880"/>
            <a:ext cx="3931920" cy="621792"/>
          </a:xfrm>
          <a:prstGeom prst="roundRect">
            <a:avLst>
              <a:gd name="adj" fmla="val 11765"/>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37" name="Shape 34"/>
          <p:cNvSpPr/>
          <p:nvPr/>
        </p:nvSpPr>
        <p:spPr>
          <a:xfrm>
            <a:off x="4892040" y="3721608"/>
            <a:ext cx="402336" cy="402336"/>
          </a:xfrm>
          <a:prstGeom prst="ellipse">
            <a:avLst/>
          </a:prstGeom>
          <a:solidFill>
            <a:srgbClr val="2563EB"/>
          </a:solidFill>
          <a:ln w="12700">
            <a:solidFill>
              <a:srgbClr val="2563EB"/>
            </a:solidFill>
            <a:prstDash val="solid"/>
          </a:ln>
        </p:spPr>
      </p:sp>
      <p:sp>
        <p:nvSpPr>
          <p:cNvPr id="38" name="Text 35"/>
          <p:cNvSpPr txBox="1"/>
          <p:nvPr/>
        </p:nvSpPr>
        <p:spPr>
          <a:xfrm>
            <a:off x="4892040" y="372160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486400" y="3611880"/>
            <a:ext cx="3108960" cy="621792"/>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Time-based (hourly) analysis</a:t>
            </a:r>
            <a:endParaRPr lang="en-US" sz="1500" dirty="0"/>
          </a:p>
        </p:txBody>
      </p:sp>
      <p:sp>
        <p:nvSpPr>
          <p:cNvPr id="40" name="Shape 37"/>
          <p:cNvSpPr/>
          <p:nvPr/>
        </p:nvSpPr>
        <p:spPr>
          <a:xfrm>
            <a:off x="457200" y="4069080"/>
            <a:ext cx="8229600" cy="548640"/>
          </a:xfrm>
          <a:prstGeom prst="roundRect">
            <a:avLst>
              <a:gd name="adj" fmla="val 13333"/>
            </a:avLst>
          </a:prstGeom>
          <a:solidFill>
            <a:srgbClr val="E0F2FE"/>
          </a:solidFill>
          <a:ln w="9525">
            <a:solidFill>
              <a:srgbClr val="E0F2FE"/>
            </a:solidFill>
            <a:prstDash val="solid"/>
          </a:ln>
        </p:spPr>
      </p:sp>
      <p:sp>
        <p:nvSpPr>
          <p:cNvPr id="41" name="Text 38"/>
          <p:cNvSpPr txBox="1"/>
          <p:nvPr/>
        </p:nvSpPr>
        <p:spPr>
          <a:xfrm>
            <a:off x="640080" y="4069080"/>
            <a:ext cx="7863840" cy="5486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No predictive model has been trained in this project.</a:t>
            </a:r>
            <a:endParaRPr lang="en-US" sz="1500" dirty="0"/>
          </a:p>
        </p:txBody>
      </p:sp>
      <p:sp>
        <p:nvSpPr>
          <p:cNvPr id="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28600"/>
            <a:ext cx="822960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Parking Utilization Findings</a:t>
            </a:r>
            <a:endParaRPr lang="en-US" sz="3000" dirty="0"/>
          </a:p>
        </p:txBody>
      </p:sp>
      <p:sp>
        <p:nvSpPr>
          <p:cNvPr id="4" name="Shape 1"/>
          <p:cNvSpPr/>
          <p:nvPr/>
        </p:nvSpPr>
        <p:spPr>
          <a:xfrm>
            <a:off x="457200" y="1005840"/>
            <a:ext cx="5303520" cy="3611880"/>
          </a:xfrm>
          <a:prstGeom prst="roundRect">
            <a:avLst>
              <a:gd name="adj" fmla="val 2025"/>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graphicFrame>
        <p:nvGraphicFramePr>
          <p:cNvPr id="5" name="Chart 0"/>
          <p:cNvGraphicFramePr/>
          <p:nvPr/>
        </p:nvGraphicFramePr>
        <p:xfrm>
          <a:off x="548640" y="1097280"/>
          <a:ext cx="512064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6035040" y="1005840"/>
            <a:ext cx="2651760" cy="1645920"/>
          </a:xfrm>
          <a:prstGeom prst="roundRect">
            <a:avLst>
              <a:gd name="adj" fmla="val 4444"/>
            </a:avLst>
          </a:prstGeom>
          <a:solidFill>
            <a:srgbClr val="22C55E"/>
          </a:solidFill>
          <a:ln w="9525">
            <a:solidFill>
              <a:srgbClr val="22C55E"/>
            </a:solidFill>
            <a:prstDash val="solid"/>
          </a:ln>
        </p:spPr>
      </p:sp>
      <p:sp>
        <p:nvSpPr>
          <p:cNvPr id="7" name="Text 3"/>
          <p:cNvSpPr txBox="1"/>
          <p:nvPr/>
        </p:nvSpPr>
        <p:spPr>
          <a:xfrm>
            <a:off x="6217920" y="1097280"/>
            <a:ext cx="2286000" cy="27432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Highest</a:t>
            </a:r>
            <a:endParaRPr lang="en-US" sz="1400" dirty="0"/>
          </a:p>
        </p:txBody>
      </p:sp>
      <p:sp>
        <p:nvSpPr>
          <p:cNvPr id="8" name="Text 4"/>
          <p:cNvSpPr txBox="1"/>
          <p:nvPr/>
        </p:nvSpPr>
        <p:spPr>
          <a:xfrm>
            <a:off x="6217920" y="1371600"/>
            <a:ext cx="2286000" cy="457200"/>
          </a:xfrm>
          <a:prstGeom prst="rect">
            <a:avLst/>
          </a:prstGeom>
          <a:noFill/>
          <a:ln/>
        </p:spPr>
        <p:txBody>
          <a:bodyPr wrap="square" lIns="0" tIns="0" rIns="0" bIns="0" rtlCol="0" anchor="t"/>
          <a:lstStyle/>
          <a:p>
            <a:pPr marL="0" indent="0">
              <a:buNone/>
            </a:pPr>
            <a:r>
              <a:rPr lang="en-US" sz="2800" b="1" dirty="0">
                <a:solidFill>
                  <a:srgbClr val="0F172A"/>
                </a:solidFill>
                <a:latin typeface="Calibri" pitchFamily="34" charset="0"/>
                <a:ea typeface="Calibri" pitchFamily="34" charset="-122"/>
                <a:cs typeface="Calibri" pitchFamily="34" charset="-120"/>
              </a:rPr>
              <a:t>Zone D</a:t>
            </a:r>
            <a:endParaRPr lang="en-US" sz="2800" dirty="0"/>
          </a:p>
        </p:txBody>
      </p:sp>
      <p:sp>
        <p:nvSpPr>
          <p:cNvPr id="9" name="Text 5"/>
          <p:cNvSpPr txBox="1"/>
          <p:nvPr/>
        </p:nvSpPr>
        <p:spPr>
          <a:xfrm>
            <a:off x="6217920" y="2011680"/>
            <a:ext cx="2286000" cy="365760"/>
          </a:xfrm>
          <a:prstGeom prst="rect">
            <a:avLst/>
          </a:prstGeom>
          <a:noFill/>
          <a:ln/>
        </p:spPr>
        <p:txBody>
          <a:bodyPr wrap="square" lIns="0" tIns="0" rIns="0" bIns="0" rtlCol="0" anchor="t"/>
          <a:lstStyle/>
          <a:p>
            <a:pPr marL="0" indent="0">
              <a:buNone/>
            </a:pPr>
            <a:r>
              <a:rPr lang="en-US" sz="1800" dirty="0">
                <a:solidFill>
                  <a:srgbClr val="0F172A"/>
                </a:solidFill>
                <a:latin typeface="Calibri" pitchFamily="34" charset="0"/>
                <a:ea typeface="Calibri" pitchFamily="34" charset="-122"/>
                <a:cs typeface="Calibri" pitchFamily="34" charset="-120"/>
              </a:rPr>
              <a:t>105 sessions</a:t>
            </a:r>
            <a:endParaRPr lang="en-US" sz="1800" dirty="0"/>
          </a:p>
        </p:txBody>
      </p:sp>
      <p:sp>
        <p:nvSpPr>
          <p:cNvPr id="10" name="Shape 6"/>
          <p:cNvSpPr/>
          <p:nvPr/>
        </p:nvSpPr>
        <p:spPr>
          <a:xfrm>
            <a:off x="6035040" y="2880360"/>
            <a:ext cx="2651760" cy="1737360"/>
          </a:xfrm>
          <a:prstGeom prst="roundRect">
            <a:avLst>
              <a:gd name="adj" fmla="val 4211"/>
            </a:avLst>
          </a:prstGeom>
          <a:solidFill>
            <a:srgbClr val="06B6D4"/>
          </a:solidFill>
          <a:ln w="9525">
            <a:solidFill>
              <a:srgbClr val="06B6D4"/>
            </a:solidFill>
            <a:prstDash val="solid"/>
          </a:ln>
        </p:spPr>
      </p:sp>
      <p:sp>
        <p:nvSpPr>
          <p:cNvPr id="11" name="Text 7"/>
          <p:cNvSpPr txBox="1"/>
          <p:nvPr/>
        </p:nvSpPr>
        <p:spPr>
          <a:xfrm>
            <a:off x="6217920" y="2971800"/>
            <a:ext cx="2286000" cy="27432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Lowest</a:t>
            </a:r>
            <a:endParaRPr lang="en-US" sz="1400" dirty="0"/>
          </a:p>
        </p:txBody>
      </p:sp>
      <p:sp>
        <p:nvSpPr>
          <p:cNvPr id="12" name="Text 8"/>
          <p:cNvSpPr txBox="1"/>
          <p:nvPr/>
        </p:nvSpPr>
        <p:spPr>
          <a:xfrm>
            <a:off x="6217920" y="3246120"/>
            <a:ext cx="2286000" cy="457200"/>
          </a:xfrm>
          <a:prstGeom prst="rect">
            <a:avLst/>
          </a:prstGeom>
          <a:noFill/>
          <a:ln/>
        </p:spPr>
        <p:txBody>
          <a:bodyPr wrap="square" lIns="0" tIns="0" rIns="0" bIns="0" rtlCol="0" anchor="t"/>
          <a:lstStyle/>
          <a:p>
            <a:pPr marL="0" indent="0">
              <a:buNone/>
            </a:pPr>
            <a:r>
              <a:rPr lang="en-US" sz="2800" b="1" dirty="0">
                <a:solidFill>
                  <a:srgbClr val="0F172A"/>
                </a:solidFill>
                <a:latin typeface="Calibri" pitchFamily="34" charset="0"/>
                <a:ea typeface="Calibri" pitchFamily="34" charset="-122"/>
                <a:cs typeface="Calibri" pitchFamily="34" charset="-120"/>
              </a:rPr>
              <a:t>Zone C</a:t>
            </a:r>
            <a:endParaRPr lang="en-US" sz="2800" dirty="0"/>
          </a:p>
        </p:txBody>
      </p:sp>
      <p:sp>
        <p:nvSpPr>
          <p:cNvPr id="13" name="Text 9"/>
          <p:cNvSpPr txBox="1"/>
          <p:nvPr/>
        </p:nvSpPr>
        <p:spPr>
          <a:xfrm>
            <a:off x="6217920" y="3886200"/>
            <a:ext cx="2286000" cy="365760"/>
          </a:xfrm>
          <a:prstGeom prst="rect">
            <a:avLst/>
          </a:prstGeom>
          <a:noFill/>
          <a:ln/>
        </p:spPr>
        <p:txBody>
          <a:bodyPr wrap="square" lIns="0" tIns="0" rIns="0" bIns="0" rtlCol="0" anchor="t"/>
          <a:lstStyle/>
          <a:p>
            <a:pPr marL="0" indent="0">
              <a:buNone/>
            </a:pPr>
            <a:r>
              <a:rPr lang="en-US" sz="1800" dirty="0">
                <a:solidFill>
                  <a:srgbClr val="0F172A"/>
                </a:solidFill>
                <a:latin typeface="Calibri" pitchFamily="34" charset="0"/>
                <a:ea typeface="Calibri" pitchFamily="34" charset="-122"/>
                <a:cs typeface="Calibri" pitchFamily="34" charset="-120"/>
              </a:rPr>
              <a:t>89 sessions</a:t>
            </a:r>
            <a:endParaRPr lang="en-US" sz="18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28600"/>
            <a:ext cx="822960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Peak Hours and Duration Analysis</a:t>
            </a:r>
            <a:endParaRPr lang="en-US" sz="3000" dirty="0"/>
          </a:p>
        </p:txBody>
      </p:sp>
      <p:sp>
        <p:nvSpPr>
          <p:cNvPr id="4" name="Shape 1"/>
          <p:cNvSpPr/>
          <p:nvPr/>
        </p:nvSpPr>
        <p:spPr>
          <a:xfrm>
            <a:off x="457200" y="960120"/>
            <a:ext cx="5120640" cy="2788920"/>
          </a:xfrm>
          <a:prstGeom prst="roundRect">
            <a:avLst>
              <a:gd name="adj" fmla="val 2623"/>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graphicFrame>
        <p:nvGraphicFramePr>
          <p:cNvPr id="5" name="Chart 0"/>
          <p:cNvGraphicFramePr/>
          <p:nvPr/>
        </p:nvGraphicFramePr>
        <p:xfrm>
          <a:off x="502920" y="1005840"/>
          <a:ext cx="5029200" cy="26974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5760720" y="960120"/>
            <a:ext cx="2926080" cy="2788920"/>
          </a:xfrm>
          <a:prstGeom prst="roundRect">
            <a:avLst>
              <a:gd name="adj" fmla="val 2623"/>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graphicFrame>
        <p:nvGraphicFramePr>
          <p:cNvPr id="7" name="Chart 1"/>
          <p:cNvGraphicFramePr/>
          <p:nvPr/>
        </p:nvGraphicFramePr>
        <p:xfrm>
          <a:off x="5806440" y="1005840"/>
          <a:ext cx="2834640" cy="269748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3"/>
          <p:cNvSpPr/>
          <p:nvPr/>
        </p:nvSpPr>
        <p:spPr>
          <a:xfrm>
            <a:off x="457200" y="3931920"/>
            <a:ext cx="4023360" cy="731520"/>
          </a:xfrm>
          <a:prstGeom prst="roundRect">
            <a:avLst>
              <a:gd name="adj" fmla="val 10000"/>
            </a:avLst>
          </a:prstGeom>
          <a:solidFill>
            <a:srgbClr val="0F172A"/>
          </a:solidFill>
          <a:ln w="9525">
            <a:solidFill>
              <a:srgbClr val="0F172A"/>
            </a:solidFill>
            <a:prstDash val="solid"/>
          </a:ln>
        </p:spPr>
      </p:sp>
      <p:sp>
        <p:nvSpPr>
          <p:cNvPr id="9" name="Text 4"/>
          <p:cNvSpPr txBox="1"/>
          <p:nvPr/>
        </p:nvSpPr>
        <p:spPr>
          <a:xfrm>
            <a:off x="640080" y="3931920"/>
            <a:ext cx="3749040" cy="731520"/>
          </a:xfrm>
          <a:prstGeom prst="rect">
            <a:avLst/>
          </a:prstGeom>
          <a:noFill/>
          <a:ln/>
        </p:spPr>
        <p:txBody>
          <a:bodyPr wrap="square" lIns="0" tIns="0" rIns="0" bIns="0" rtlCol="0" anchor="ctr"/>
          <a:lstStyle/>
          <a:p>
            <a:pPr marL="0" indent="0">
              <a:buNone/>
            </a:pPr>
            <a:r>
              <a:rPr lang="en-US" sz="2200" b="1" dirty="0">
                <a:solidFill>
                  <a:srgbClr val="06B6D4"/>
                </a:solidFill>
                <a:latin typeface="Calibri" pitchFamily="34" charset="0"/>
                <a:ea typeface="Calibri" pitchFamily="34" charset="-122"/>
                <a:cs typeface="Calibri" pitchFamily="34" charset="-120"/>
              </a:rPr>
              <a:t>6 PM  </a:t>
            </a:r>
            <a:r>
              <a:rPr lang="en-US" sz="1400" dirty="0">
                <a:solidFill>
                  <a:srgbClr val="FFFFFF"/>
                </a:solidFill>
                <a:latin typeface="Calibri" pitchFamily="34" charset="0"/>
                <a:ea typeface="Calibri" pitchFamily="34" charset="-122"/>
                <a:cs typeface="Calibri" pitchFamily="34" charset="-120"/>
              </a:rPr>
              <a:t>busiest entry hour: 36 sessions</a:t>
            </a:r>
            <a:endParaRPr lang="en-US" sz="1400" dirty="0"/>
          </a:p>
        </p:txBody>
      </p:sp>
      <p:sp>
        <p:nvSpPr>
          <p:cNvPr id="10" name="Shape 5"/>
          <p:cNvSpPr/>
          <p:nvPr/>
        </p:nvSpPr>
        <p:spPr>
          <a:xfrm>
            <a:off x="4663440" y="3931920"/>
            <a:ext cx="4023360" cy="731520"/>
          </a:xfrm>
          <a:prstGeom prst="roundRect">
            <a:avLst>
              <a:gd name="adj" fmla="val 10000"/>
            </a:avLst>
          </a:prstGeom>
          <a:solidFill>
            <a:srgbClr val="0F172A"/>
          </a:solidFill>
          <a:ln w="9525">
            <a:solidFill>
              <a:srgbClr val="0F172A"/>
            </a:solidFill>
            <a:prstDash val="solid"/>
          </a:ln>
        </p:spPr>
      </p:sp>
      <p:sp>
        <p:nvSpPr>
          <p:cNvPr id="11" name="Text 6"/>
          <p:cNvSpPr txBox="1"/>
          <p:nvPr/>
        </p:nvSpPr>
        <p:spPr>
          <a:xfrm>
            <a:off x="4846320" y="3931920"/>
            <a:ext cx="3749040" cy="731520"/>
          </a:xfrm>
          <a:prstGeom prst="rect">
            <a:avLst/>
          </a:prstGeom>
          <a:noFill/>
          <a:ln/>
        </p:spPr>
        <p:txBody>
          <a:bodyPr wrap="square" lIns="0" tIns="0" rIns="0" bIns="0" rtlCol="0" anchor="ctr"/>
          <a:lstStyle/>
          <a:p>
            <a:pPr marL="0" indent="0">
              <a:buNone/>
            </a:pPr>
            <a:r>
              <a:rPr lang="en-US" sz="2200" b="1" dirty="0">
                <a:solidFill>
                  <a:srgbClr val="22C55E"/>
                </a:solidFill>
                <a:latin typeface="Calibri" pitchFamily="34" charset="0"/>
                <a:ea typeface="Calibri" pitchFamily="34" charset="-122"/>
                <a:cs typeface="Calibri" pitchFamily="34" charset="-120"/>
              </a:rPr>
              <a:t>2.33 h  </a:t>
            </a:r>
            <a:r>
              <a:rPr lang="en-US" sz="1400" dirty="0">
                <a:solidFill>
                  <a:srgbClr val="FFFFFF"/>
                </a:solidFill>
                <a:latin typeface="Calibri" pitchFamily="34" charset="0"/>
                <a:ea typeface="Calibri" pitchFamily="34" charset="-122"/>
                <a:cs typeface="Calibri" pitchFamily="34" charset="-120"/>
              </a:rPr>
              <a:t>Recreational, longest average</a:t>
            </a:r>
            <a:endParaRPr lang="en-US" sz="14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28600"/>
            <a:ext cx="822960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Event and Weather Analysis</a:t>
            </a:r>
            <a:endParaRPr lang="en-US" sz="3000" dirty="0"/>
          </a:p>
        </p:txBody>
      </p:sp>
      <p:sp>
        <p:nvSpPr>
          <p:cNvPr id="4" name="Shape 1"/>
          <p:cNvSpPr/>
          <p:nvPr/>
        </p:nvSpPr>
        <p:spPr>
          <a:xfrm>
            <a:off x="457200" y="960120"/>
            <a:ext cx="4023360" cy="2514600"/>
          </a:xfrm>
          <a:prstGeom prst="roundRect">
            <a:avLst>
              <a:gd name="adj" fmla="val 2909"/>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graphicFrame>
        <p:nvGraphicFramePr>
          <p:cNvPr id="5" name="Chart 0"/>
          <p:cNvGraphicFramePr/>
          <p:nvPr/>
        </p:nvGraphicFramePr>
        <p:xfrm>
          <a:off x="502920" y="1005840"/>
          <a:ext cx="3931920"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4663440" y="960120"/>
            <a:ext cx="4023360" cy="2514600"/>
          </a:xfrm>
          <a:prstGeom prst="roundRect">
            <a:avLst>
              <a:gd name="adj" fmla="val 2909"/>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graphicFrame>
        <p:nvGraphicFramePr>
          <p:cNvPr id="7" name="Chart 1"/>
          <p:cNvGraphicFramePr/>
          <p:nvPr/>
        </p:nvGraphicFramePr>
        <p:xfrm>
          <a:off x="4709160" y="1005840"/>
          <a:ext cx="3931920" cy="242316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3"/>
          <p:cNvSpPr/>
          <p:nvPr/>
        </p:nvSpPr>
        <p:spPr>
          <a:xfrm>
            <a:off x="457200" y="3657600"/>
            <a:ext cx="8229600" cy="1005840"/>
          </a:xfrm>
          <a:prstGeom prst="roundRect">
            <a:avLst>
              <a:gd name="adj" fmla="val 7273"/>
            </a:avLst>
          </a:prstGeom>
          <a:solidFill>
            <a:srgbClr val="FEF3C7"/>
          </a:solidFill>
          <a:ln w="9525">
            <a:solidFill>
              <a:srgbClr val="FEF3C7"/>
            </a:solidFill>
            <a:prstDash val="solid"/>
          </a:ln>
        </p:spPr>
      </p:sp>
      <p:sp>
        <p:nvSpPr>
          <p:cNvPr id="9" name="Text 4"/>
          <p:cNvSpPr txBox="1"/>
          <p:nvPr/>
        </p:nvSpPr>
        <p:spPr>
          <a:xfrm>
            <a:off x="640080" y="3721608"/>
            <a:ext cx="3657600" cy="27432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Limits of these comparisons</a:t>
            </a:r>
            <a:endParaRPr lang="en-US" sz="1400" dirty="0"/>
          </a:p>
        </p:txBody>
      </p:sp>
      <p:sp>
        <p:nvSpPr>
          <p:cNvPr id="10" name="Text 5"/>
          <p:cNvSpPr txBox="1"/>
          <p:nvPr/>
        </p:nvSpPr>
        <p:spPr>
          <a:xfrm>
            <a:off x="640080" y="4023360"/>
            <a:ext cx="7863840" cy="548640"/>
          </a:xfrm>
          <a:prstGeom prst="rect">
            <a:avLst/>
          </a:prstGeom>
          <a:noFill/>
          <a:ln/>
        </p:spPr>
        <p:txBody>
          <a:bodyPr wrap="square" lIns="0" tIns="0" rIns="0" bIns="0" rtlCol="0" anchor="t"/>
          <a:lstStyle/>
          <a:p>
            <a:pPr marL="0" indent="0">
              <a:buNone/>
            </a:pPr>
            <a:r>
              <a:rPr lang="en-US" sz="1400" dirty="0">
                <a:solidFill>
                  <a:srgbClr val="0F172A"/>
                </a:solidFill>
                <a:latin typeface="Calibri" pitchFamily="34" charset="0"/>
                <a:ea typeface="Calibri" pitchFamily="34" charset="-122"/>
                <a:cs typeface="Calibri" pitchFamily="34" charset="-120"/>
              </a:rPr>
              <a:t>Counts are not normalised per day. Groups differ greatly in size. No causation is inferred.</a:t>
            </a:r>
            <a:endParaRPr lang="en-US" sz="14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28600"/>
            <a:ext cx="822960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Excel Dashboard and KPI Summary</a:t>
            </a:r>
            <a:endParaRPr lang="en-US" sz="3000" dirty="0"/>
          </a:p>
        </p:txBody>
      </p:sp>
      <p:sp>
        <p:nvSpPr>
          <p:cNvPr id="4" name="Shape 1"/>
          <p:cNvSpPr/>
          <p:nvPr/>
        </p:nvSpPr>
        <p:spPr>
          <a:xfrm>
            <a:off x="457200" y="1005840"/>
            <a:ext cx="1965960" cy="1188720"/>
          </a:xfrm>
          <a:prstGeom prst="roundRect">
            <a:avLst>
              <a:gd name="adj" fmla="val 6154"/>
            </a:avLst>
          </a:prstGeom>
          <a:solidFill>
            <a:srgbClr val="2563EB"/>
          </a:solidFill>
          <a:ln w="9525">
            <a:solidFill>
              <a:srgbClr val="2563EB"/>
            </a:solidFill>
            <a:prstDash val="solid"/>
          </a:ln>
        </p:spPr>
      </p:sp>
      <p:sp>
        <p:nvSpPr>
          <p:cNvPr id="5" name="Text 2"/>
          <p:cNvSpPr txBox="1"/>
          <p:nvPr/>
        </p:nvSpPr>
        <p:spPr>
          <a:xfrm>
            <a:off x="457200" y="1143000"/>
            <a:ext cx="1965960"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492</a:t>
            </a:r>
            <a:endParaRPr lang="en-US" sz="3000" dirty="0"/>
          </a:p>
        </p:txBody>
      </p:sp>
      <p:sp>
        <p:nvSpPr>
          <p:cNvPr id="6" name="Text 3"/>
          <p:cNvSpPr txBox="1"/>
          <p:nvPr/>
        </p:nvSpPr>
        <p:spPr>
          <a:xfrm>
            <a:off x="457200" y="1737360"/>
            <a:ext cx="1965960" cy="320040"/>
          </a:xfrm>
          <a:prstGeom prst="rect">
            <a:avLst/>
          </a:prstGeom>
          <a:noFill/>
          <a:ln/>
        </p:spPr>
        <p:txBody>
          <a:bodyPr wrap="square" lIns="0" tIns="0" rIns="0" bIns="0" rtlCol="0" anchor="t"/>
          <a:lstStyle/>
          <a:p>
            <a:pPr marL="0" indent="0" algn="ctr">
              <a:buNone/>
            </a:pPr>
            <a:r>
              <a:rPr lang="en-US" sz="1300" dirty="0">
                <a:solidFill>
                  <a:srgbClr val="FFFFFF"/>
                </a:solidFill>
                <a:latin typeface="Calibri" pitchFamily="34" charset="0"/>
                <a:ea typeface="Calibri" pitchFamily="34" charset="-122"/>
                <a:cs typeface="Calibri" pitchFamily="34" charset="-120"/>
              </a:rPr>
              <a:t>Cleaned sessions</a:t>
            </a:r>
            <a:endParaRPr lang="en-US" sz="1300" dirty="0"/>
          </a:p>
        </p:txBody>
      </p:sp>
      <p:sp>
        <p:nvSpPr>
          <p:cNvPr id="7" name="Shape 4"/>
          <p:cNvSpPr/>
          <p:nvPr/>
        </p:nvSpPr>
        <p:spPr>
          <a:xfrm>
            <a:off x="2532888" y="1005840"/>
            <a:ext cx="1965960" cy="1188720"/>
          </a:xfrm>
          <a:prstGeom prst="roundRect">
            <a:avLst>
              <a:gd name="adj" fmla="val 6154"/>
            </a:avLst>
          </a:prstGeom>
          <a:solidFill>
            <a:srgbClr val="06B6D4"/>
          </a:solidFill>
          <a:ln w="9525">
            <a:solidFill>
              <a:srgbClr val="06B6D4"/>
            </a:solidFill>
            <a:prstDash val="solid"/>
          </a:ln>
        </p:spPr>
      </p:sp>
      <p:sp>
        <p:nvSpPr>
          <p:cNvPr id="8" name="Text 5"/>
          <p:cNvSpPr txBox="1"/>
          <p:nvPr/>
        </p:nvSpPr>
        <p:spPr>
          <a:xfrm>
            <a:off x="2532888" y="1143000"/>
            <a:ext cx="1965960"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2.19 h</a:t>
            </a:r>
            <a:endParaRPr lang="en-US" sz="3000" dirty="0"/>
          </a:p>
        </p:txBody>
      </p:sp>
      <p:sp>
        <p:nvSpPr>
          <p:cNvPr id="9" name="Text 6"/>
          <p:cNvSpPr txBox="1"/>
          <p:nvPr/>
        </p:nvSpPr>
        <p:spPr>
          <a:xfrm>
            <a:off x="2532888" y="1737360"/>
            <a:ext cx="1965960" cy="320040"/>
          </a:xfrm>
          <a:prstGeom prst="rect">
            <a:avLst/>
          </a:prstGeom>
          <a:noFill/>
          <a:ln/>
        </p:spPr>
        <p:txBody>
          <a:bodyPr wrap="square" lIns="0" tIns="0" rIns="0" bIns="0" rtlCol="0" anchor="t"/>
          <a:lstStyle/>
          <a:p>
            <a:pPr marL="0" indent="0" algn="ctr">
              <a:buNone/>
            </a:pPr>
            <a:r>
              <a:rPr lang="en-US" sz="1300" dirty="0">
                <a:solidFill>
                  <a:srgbClr val="FFFFFF"/>
                </a:solidFill>
                <a:latin typeface="Calibri" pitchFamily="34" charset="0"/>
                <a:ea typeface="Calibri" pitchFamily="34" charset="-122"/>
                <a:cs typeface="Calibri" pitchFamily="34" charset="-120"/>
              </a:rPr>
              <a:t>Avg. duration</a:t>
            </a:r>
            <a:endParaRPr lang="en-US" sz="1300" dirty="0"/>
          </a:p>
        </p:txBody>
      </p:sp>
      <p:sp>
        <p:nvSpPr>
          <p:cNvPr id="10" name="Shape 7"/>
          <p:cNvSpPr/>
          <p:nvPr/>
        </p:nvSpPr>
        <p:spPr>
          <a:xfrm>
            <a:off x="4608576" y="1005840"/>
            <a:ext cx="1965960" cy="1188720"/>
          </a:xfrm>
          <a:prstGeom prst="roundRect">
            <a:avLst>
              <a:gd name="adj" fmla="val 6154"/>
            </a:avLst>
          </a:prstGeom>
          <a:solidFill>
            <a:srgbClr val="22C55E"/>
          </a:solidFill>
          <a:ln w="9525">
            <a:solidFill>
              <a:srgbClr val="22C55E"/>
            </a:solidFill>
            <a:prstDash val="solid"/>
          </a:ln>
        </p:spPr>
      </p:sp>
      <p:sp>
        <p:nvSpPr>
          <p:cNvPr id="11" name="Text 8"/>
          <p:cNvSpPr txBox="1"/>
          <p:nvPr/>
        </p:nvSpPr>
        <p:spPr>
          <a:xfrm>
            <a:off x="4608576" y="1143000"/>
            <a:ext cx="1965960" cy="548640"/>
          </a:xfrm>
          <a:prstGeom prst="rect">
            <a:avLst/>
          </a:prstGeom>
          <a:noFill/>
          <a:ln/>
        </p:spPr>
        <p:txBody>
          <a:bodyPr wrap="square" lIns="0" tIns="0" rIns="0" bIns="0" rtlCol="0" anchor="ctr"/>
          <a:lstStyle/>
          <a:p>
            <a:pPr marL="0" indent="0" algn="ctr">
              <a:buNone/>
            </a:pPr>
            <a:r>
              <a:rPr lang="en-US" sz="2600" b="1" dirty="0">
                <a:solidFill>
                  <a:srgbClr val="0F172A"/>
                </a:solidFill>
                <a:latin typeface="Calibri" pitchFamily="34" charset="0"/>
                <a:ea typeface="Calibri" pitchFamily="34" charset="-122"/>
                <a:cs typeface="Calibri" pitchFamily="34" charset="-120"/>
              </a:rPr>
              <a:t>17,632.83</a:t>
            </a:r>
            <a:endParaRPr lang="en-US" sz="2600" dirty="0"/>
          </a:p>
        </p:txBody>
      </p:sp>
      <p:sp>
        <p:nvSpPr>
          <p:cNvPr id="12" name="Text 9"/>
          <p:cNvSpPr txBox="1"/>
          <p:nvPr/>
        </p:nvSpPr>
        <p:spPr>
          <a:xfrm>
            <a:off x="4608576" y="1737360"/>
            <a:ext cx="1965960" cy="320040"/>
          </a:xfrm>
          <a:prstGeom prst="rect">
            <a:avLst/>
          </a:prstGeom>
          <a:noFill/>
          <a:ln/>
        </p:spPr>
        <p:txBody>
          <a:bodyPr wrap="square" lIns="0" tIns="0" rIns="0" bIns="0" rtlCol="0" anchor="t"/>
          <a:lstStyle/>
          <a:p>
            <a:pPr marL="0" indent="0" algn="ctr">
              <a:buNone/>
            </a:pPr>
            <a:r>
              <a:rPr lang="en-US" sz="1300" dirty="0">
                <a:solidFill>
                  <a:srgbClr val="0F172A"/>
                </a:solidFill>
                <a:latin typeface="Calibri" pitchFamily="34" charset="0"/>
                <a:ea typeface="Calibri" pitchFamily="34" charset="-122"/>
                <a:cs typeface="Calibri" pitchFamily="34" charset="-120"/>
              </a:rPr>
              <a:t>Total recorded fees</a:t>
            </a:r>
            <a:endParaRPr lang="en-US" sz="1300" dirty="0"/>
          </a:p>
        </p:txBody>
      </p:sp>
      <p:sp>
        <p:nvSpPr>
          <p:cNvPr id="13" name="Shape 10"/>
          <p:cNvSpPr/>
          <p:nvPr/>
        </p:nvSpPr>
        <p:spPr>
          <a:xfrm>
            <a:off x="6684264" y="1005840"/>
            <a:ext cx="1965960" cy="1188720"/>
          </a:xfrm>
          <a:prstGeom prst="roundRect">
            <a:avLst>
              <a:gd name="adj" fmla="val 6154"/>
            </a:avLst>
          </a:prstGeom>
          <a:solidFill>
            <a:srgbClr val="0E7490"/>
          </a:solidFill>
          <a:ln w="9525">
            <a:solidFill>
              <a:srgbClr val="0E7490"/>
            </a:solidFill>
            <a:prstDash val="solid"/>
          </a:ln>
        </p:spPr>
      </p:sp>
      <p:sp>
        <p:nvSpPr>
          <p:cNvPr id="14" name="Text 11"/>
          <p:cNvSpPr txBox="1"/>
          <p:nvPr/>
        </p:nvSpPr>
        <p:spPr>
          <a:xfrm>
            <a:off x="6684264" y="1143000"/>
            <a:ext cx="1965960"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35.84</a:t>
            </a:r>
            <a:endParaRPr lang="en-US" sz="3000" dirty="0"/>
          </a:p>
        </p:txBody>
      </p:sp>
      <p:sp>
        <p:nvSpPr>
          <p:cNvPr id="15" name="Text 12"/>
          <p:cNvSpPr txBox="1"/>
          <p:nvPr/>
        </p:nvSpPr>
        <p:spPr>
          <a:xfrm>
            <a:off x="6684264" y="1737360"/>
            <a:ext cx="1965960" cy="320040"/>
          </a:xfrm>
          <a:prstGeom prst="rect">
            <a:avLst/>
          </a:prstGeom>
          <a:noFill/>
          <a:ln/>
        </p:spPr>
        <p:txBody>
          <a:bodyPr wrap="square" lIns="0" tIns="0" rIns="0" bIns="0" rtlCol="0" anchor="t"/>
          <a:lstStyle/>
          <a:p>
            <a:pPr marL="0" indent="0" algn="ctr">
              <a:buNone/>
            </a:pPr>
            <a:r>
              <a:rPr lang="en-US" sz="1300" dirty="0">
                <a:solidFill>
                  <a:srgbClr val="FFFFFF"/>
                </a:solidFill>
                <a:latin typeface="Calibri" pitchFamily="34" charset="0"/>
                <a:ea typeface="Calibri" pitchFamily="34" charset="-122"/>
                <a:cs typeface="Calibri" pitchFamily="34" charset="-120"/>
              </a:rPr>
              <a:t>Avg. recorded fee</a:t>
            </a:r>
            <a:endParaRPr lang="en-US" sz="1300" dirty="0"/>
          </a:p>
        </p:txBody>
      </p:sp>
      <p:sp>
        <p:nvSpPr>
          <p:cNvPr id="16" name="Text 13"/>
          <p:cNvSpPr txBox="1"/>
          <p:nvPr/>
        </p:nvSpPr>
        <p:spPr>
          <a:xfrm>
            <a:off x="457200" y="2377440"/>
            <a:ext cx="4572000" cy="274320"/>
          </a:xfrm>
          <a:prstGeom prst="rect">
            <a:avLst/>
          </a:prstGeom>
          <a:noFill/>
          <a:ln/>
        </p:spPr>
        <p:txBody>
          <a:bodyPr wrap="square" lIns="0" tIns="0" rIns="0" bIns="0" rtlCol="0" anchor="t"/>
          <a:lstStyle/>
          <a:p>
            <a:pPr marL="0" indent="0">
              <a:buNone/>
            </a:pPr>
            <a:r>
              <a:rPr lang="en-US" sz="1600" b="1" dirty="0">
                <a:solidFill>
                  <a:srgbClr val="2563EB"/>
                </a:solidFill>
                <a:latin typeface="Calibri" pitchFamily="34" charset="0"/>
                <a:ea typeface="Calibri" pitchFamily="34" charset="-122"/>
                <a:cs typeface="Calibri" pitchFamily="34" charset="-120"/>
              </a:rPr>
              <a:t>Dashboard charts</a:t>
            </a:r>
            <a:endParaRPr lang="en-US" sz="1600" dirty="0"/>
          </a:p>
        </p:txBody>
      </p:sp>
      <p:sp>
        <p:nvSpPr>
          <p:cNvPr id="17" name="Shape 14"/>
          <p:cNvSpPr/>
          <p:nvPr/>
        </p:nvSpPr>
        <p:spPr>
          <a:xfrm>
            <a:off x="457200" y="2743200"/>
            <a:ext cx="1554480" cy="1783080"/>
          </a:xfrm>
          <a:prstGeom prst="roundRect">
            <a:avLst>
              <a:gd name="adj" fmla="val 4706"/>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18" name="Shape 15"/>
          <p:cNvSpPr/>
          <p:nvPr/>
        </p:nvSpPr>
        <p:spPr>
          <a:xfrm>
            <a:off x="1005840" y="2880360"/>
            <a:ext cx="457200" cy="457200"/>
          </a:xfrm>
          <a:prstGeom prst="ellipse">
            <a:avLst/>
          </a:prstGeom>
          <a:solidFill>
            <a:srgbClr val="2563EB"/>
          </a:solidFill>
          <a:ln w="12700">
            <a:solidFill>
              <a:srgbClr val="2563EB"/>
            </a:solidFill>
            <a:prstDash val="solid"/>
          </a:ln>
        </p:spPr>
      </p:sp>
      <p:sp>
        <p:nvSpPr>
          <p:cNvPr id="19" name="Text 16"/>
          <p:cNvSpPr txBox="1"/>
          <p:nvPr/>
        </p:nvSpPr>
        <p:spPr>
          <a:xfrm>
            <a:off x="1005840" y="28803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0" name="Text 17"/>
          <p:cNvSpPr txBox="1"/>
          <p:nvPr/>
        </p:nvSpPr>
        <p:spPr>
          <a:xfrm>
            <a:off x="548640" y="3474720"/>
            <a:ext cx="1371600" cy="914400"/>
          </a:xfrm>
          <a:prstGeom prst="rect">
            <a:avLst/>
          </a:prstGeom>
          <a:noFill/>
          <a:ln/>
        </p:spPr>
        <p:txBody>
          <a:bodyPr wrap="square" lIns="0" tIns="0" rIns="0" bIns="0" rtlCol="0" anchor="t"/>
          <a:lstStyle/>
          <a:p>
            <a:pPr marL="0" indent="0" algn="ctr">
              <a:buNone/>
            </a:pPr>
            <a:r>
              <a:rPr lang="en-US" sz="1300" b="1" dirty="0">
                <a:solidFill>
                  <a:srgbClr val="0F172A"/>
                </a:solidFill>
                <a:latin typeface="Calibri" pitchFamily="34" charset="0"/>
                <a:ea typeface="Calibri" pitchFamily="34" charset="-122"/>
                <a:cs typeface="Calibri" pitchFamily="34" charset="-120"/>
              </a:rPr>
              <a:t>Sessions by zone</a:t>
            </a:r>
            <a:endParaRPr lang="en-US" sz="1300" dirty="0"/>
          </a:p>
        </p:txBody>
      </p:sp>
      <p:sp>
        <p:nvSpPr>
          <p:cNvPr id="21" name="Shape 18"/>
          <p:cNvSpPr/>
          <p:nvPr/>
        </p:nvSpPr>
        <p:spPr>
          <a:xfrm>
            <a:off x="2121408" y="2743200"/>
            <a:ext cx="1554480" cy="1783080"/>
          </a:xfrm>
          <a:prstGeom prst="roundRect">
            <a:avLst>
              <a:gd name="adj" fmla="val 4706"/>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22" name="Shape 19"/>
          <p:cNvSpPr/>
          <p:nvPr/>
        </p:nvSpPr>
        <p:spPr>
          <a:xfrm>
            <a:off x="2670048" y="2880360"/>
            <a:ext cx="457200" cy="457200"/>
          </a:xfrm>
          <a:prstGeom prst="ellipse">
            <a:avLst/>
          </a:prstGeom>
          <a:solidFill>
            <a:srgbClr val="06B6D4"/>
          </a:solidFill>
          <a:ln w="12700">
            <a:solidFill>
              <a:srgbClr val="06B6D4"/>
            </a:solidFill>
            <a:prstDash val="solid"/>
          </a:ln>
        </p:spPr>
      </p:sp>
      <p:sp>
        <p:nvSpPr>
          <p:cNvPr id="23" name="Text 20"/>
          <p:cNvSpPr txBox="1"/>
          <p:nvPr/>
        </p:nvSpPr>
        <p:spPr>
          <a:xfrm>
            <a:off x="2670048" y="28803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4" name="Text 21"/>
          <p:cNvSpPr txBox="1"/>
          <p:nvPr/>
        </p:nvSpPr>
        <p:spPr>
          <a:xfrm>
            <a:off x="2212848" y="3474720"/>
            <a:ext cx="1371600" cy="914400"/>
          </a:xfrm>
          <a:prstGeom prst="rect">
            <a:avLst/>
          </a:prstGeom>
          <a:noFill/>
          <a:ln/>
        </p:spPr>
        <p:txBody>
          <a:bodyPr wrap="square" lIns="0" tIns="0" rIns="0" bIns="0" rtlCol="0" anchor="t"/>
          <a:lstStyle/>
          <a:p>
            <a:pPr marL="0" indent="0" algn="ctr">
              <a:buNone/>
            </a:pPr>
            <a:r>
              <a:rPr lang="en-US" sz="1300" b="1" dirty="0">
                <a:solidFill>
                  <a:srgbClr val="0F172A"/>
                </a:solidFill>
                <a:latin typeface="Calibri" pitchFamily="34" charset="0"/>
                <a:ea typeface="Calibri" pitchFamily="34" charset="-122"/>
                <a:cs typeface="Calibri" pitchFamily="34" charset="-120"/>
              </a:rPr>
              <a:t>Demand by entry hour</a:t>
            </a:r>
            <a:endParaRPr lang="en-US" sz="1300" dirty="0"/>
          </a:p>
        </p:txBody>
      </p:sp>
      <p:sp>
        <p:nvSpPr>
          <p:cNvPr id="25" name="Shape 22"/>
          <p:cNvSpPr/>
          <p:nvPr/>
        </p:nvSpPr>
        <p:spPr>
          <a:xfrm>
            <a:off x="3785616" y="2743200"/>
            <a:ext cx="1554480" cy="1783080"/>
          </a:xfrm>
          <a:prstGeom prst="roundRect">
            <a:avLst>
              <a:gd name="adj" fmla="val 4706"/>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26" name="Shape 23"/>
          <p:cNvSpPr/>
          <p:nvPr/>
        </p:nvSpPr>
        <p:spPr>
          <a:xfrm>
            <a:off x="4334256" y="2880360"/>
            <a:ext cx="457200" cy="457200"/>
          </a:xfrm>
          <a:prstGeom prst="ellipse">
            <a:avLst/>
          </a:prstGeom>
          <a:solidFill>
            <a:srgbClr val="22C55E"/>
          </a:solidFill>
          <a:ln w="12700">
            <a:solidFill>
              <a:srgbClr val="22C55E"/>
            </a:solidFill>
            <a:prstDash val="solid"/>
          </a:ln>
        </p:spPr>
      </p:sp>
      <p:sp>
        <p:nvSpPr>
          <p:cNvPr id="27" name="Text 24"/>
          <p:cNvSpPr txBox="1"/>
          <p:nvPr/>
        </p:nvSpPr>
        <p:spPr>
          <a:xfrm>
            <a:off x="4334256" y="28803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8" name="Text 25"/>
          <p:cNvSpPr txBox="1"/>
          <p:nvPr/>
        </p:nvSpPr>
        <p:spPr>
          <a:xfrm>
            <a:off x="3877056" y="3474720"/>
            <a:ext cx="1371600" cy="914400"/>
          </a:xfrm>
          <a:prstGeom prst="rect">
            <a:avLst/>
          </a:prstGeom>
          <a:noFill/>
          <a:ln/>
        </p:spPr>
        <p:txBody>
          <a:bodyPr wrap="square" lIns="0" tIns="0" rIns="0" bIns="0" rtlCol="0" anchor="t"/>
          <a:lstStyle/>
          <a:p>
            <a:pPr marL="0" indent="0" algn="ctr">
              <a:buNone/>
            </a:pPr>
            <a:r>
              <a:rPr lang="en-US" sz="1300" b="1" dirty="0">
                <a:solidFill>
                  <a:srgbClr val="0F172A"/>
                </a:solidFill>
                <a:latin typeface="Calibri" pitchFamily="34" charset="0"/>
                <a:ea typeface="Calibri" pitchFamily="34" charset="-122"/>
                <a:cs typeface="Calibri" pitchFamily="34" charset="-120"/>
              </a:rPr>
              <a:t>Avg duration by zone type</a:t>
            </a:r>
            <a:endParaRPr lang="en-US" sz="1300" dirty="0"/>
          </a:p>
        </p:txBody>
      </p:sp>
      <p:sp>
        <p:nvSpPr>
          <p:cNvPr id="29" name="Shape 26"/>
          <p:cNvSpPr/>
          <p:nvPr/>
        </p:nvSpPr>
        <p:spPr>
          <a:xfrm>
            <a:off x="5449824" y="2743200"/>
            <a:ext cx="1554480" cy="1783080"/>
          </a:xfrm>
          <a:prstGeom prst="roundRect">
            <a:avLst>
              <a:gd name="adj" fmla="val 4706"/>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30" name="Shape 27"/>
          <p:cNvSpPr/>
          <p:nvPr/>
        </p:nvSpPr>
        <p:spPr>
          <a:xfrm>
            <a:off x="5998464" y="2880360"/>
            <a:ext cx="457200" cy="457200"/>
          </a:xfrm>
          <a:prstGeom prst="ellipse">
            <a:avLst/>
          </a:prstGeom>
          <a:solidFill>
            <a:srgbClr val="2563EB"/>
          </a:solidFill>
          <a:ln w="12700">
            <a:solidFill>
              <a:srgbClr val="2563EB"/>
            </a:solidFill>
            <a:prstDash val="solid"/>
          </a:ln>
        </p:spPr>
      </p:sp>
      <p:sp>
        <p:nvSpPr>
          <p:cNvPr id="31" name="Text 28"/>
          <p:cNvSpPr txBox="1"/>
          <p:nvPr/>
        </p:nvSpPr>
        <p:spPr>
          <a:xfrm>
            <a:off x="5998464" y="28803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2" name="Text 29"/>
          <p:cNvSpPr txBox="1"/>
          <p:nvPr/>
        </p:nvSpPr>
        <p:spPr>
          <a:xfrm>
            <a:off x="5541264" y="3474720"/>
            <a:ext cx="1371600" cy="914400"/>
          </a:xfrm>
          <a:prstGeom prst="rect">
            <a:avLst/>
          </a:prstGeom>
          <a:noFill/>
          <a:ln/>
        </p:spPr>
        <p:txBody>
          <a:bodyPr wrap="square" lIns="0" tIns="0" rIns="0" bIns="0" rtlCol="0" anchor="t"/>
          <a:lstStyle/>
          <a:p>
            <a:pPr marL="0" indent="0" algn="ctr">
              <a:buNone/>
            </a:pPr>
            <a:r>
              <a:rPr lang="en-US" sz="1300" b="1" dirty="0">
                <a:solidFill>
                  <a:srgbClr val="0F172A"/>
                </a:solidFill>
                <a:latin typeface="Calibri" pitchFamily="34" charset="0"/>
                <a:ea typeface="Calibri" pitchFamily="34" charset="-122"/>
                <a:cs typeface="Calibri" pitchFamily="34" charset="-120"/>
              </a:rPr>
              <a:t>Event vs non-event sessions</a:t>
            </a:r>
            <a:endParaRPr lang="en-US" sz="1300" dirty="0"/>
          </a:p>
        </p:txBody>
      </p:sp>
      <p:sp>
        <p:nvSpPr>
          <p:cNvPr id="33" name="Shape 30"/>
          <p:cNvSpPr/>
          <p:nvPr/>
        </p:nvSpPr>
        <p:spPr>
          <a:xfrm>
            <a:off x="7114032" y="2743200"/>
            <a:ext cx="1554480" cy="1783080"/>
          </a:xfrm>
          <a:prstGeom prst="roundRect">
            <a:avLst>
              <a:gd name="adj" fmla="val 4706"/>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34" name="Shape 31"/>
          <p:cNvSpPr/>
          <p:nvPr/>
        </p:nvSpPr>
        <p:spPr>
          <a:xfrm>
            <a:off x="7662672" y="2880360"/>
            <a:ext cx="457200" cy="457200"/>
          </a:xfrm>
          <a:prstGeom prst="ellipse">
            <a:avLst/>
          </a:prstGeom>
          <a:solidFill>
            <a:srgbClr val="06B6D4"/>
          </a:solidFill>
          <a:ln w="12700">
            <a:solidFill>
              <a:srgbClr val="06B6D4"/>
            </a:solidFill>
            <a:prstDash val="solid"/>
          </a:ln>
        </p:spPr>
      </p:sp>
      <p:sp>
        <p:nvSpPr>
          <p:cNvPr id="35" name="Text 32"/>
          <p:cNvSpPr txBox="1"/>
          <p:nvPr/>
        </p:nvSpPr>
        <p:spPr>
          <a:xfrm>
            <a:off x="7662672" y="28803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6" name="Text 33"/>
          <p:cNvSpPr txBox="1"/>
          <p:nvPr/>
        </p:nvSpPr>
        <p:spPr>
          <a:xfrm>
            <a:off x="7205472" y="3474720"/>
            <a:ext cx="1371600" cy="914400"/>
          </a:xfrm>
          <a:prstGeom prst="rect">
            <a:avLst/>
          </a:prstGeom>
          <a:noFill/>
          <a:ln/>
        </p:spPr>
        <p:txBody>
          <a:bodyPr wrap="square" lIns="0" tIns="0" rIns="0" bIns="0" rtlCol="0" anchor="t"/>
          <a:lstStyle/>
          <a:p>
            <a:pPr marL="0" indent="0" algn="ctr">
              <a:buNone/>
            </a:pPr>
            <a:r>
              <a:rPr lang="en-US" sz="1300" b="1" dirty="0">
                <a:solidFill>
                  <a:srgbClr val="0F172A"/>
                </a:solidFill>
                <a:latin typeface="Calibri" pitchFamily="34" charset="0"/>
                <a:ea typeface="Calibri" pitchFamily="34" charset="-122"/>
                <a:cs typeface="Calibri" pitchFamily="34" charset="-120"/>
              </a:rPr>
              <a:t>Sessions by weather</a:t>
            </a:r>
            <a:endParaRPr lang="en-US" sz="1300" dirty="0"/>
          </a:p>
        </p:txBody>
      </p:sp>
      <p:sp>
        <p:nvSpPr>
          <p:cNvPr id="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28600"/>
            <a:ext cx="822960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Business Recommendations and Limitations</a:t>
            </a:r>
            <a:endParaRPr lang="en-US" sz="3000" dirty="0"/>
          </a:p>
        </p:txBody>
      </p:sp>
      <p:sp>
        <p:nvSpPr>
          <p:cNvPr id="4" name="Shape 1"/>
          <p:cNvSpPr/>
          <p:nvPr/>
        </p:nvSpPr>
        <p:spPr>
          <a:xfrm>
            <a:off x="457200" y="1005840"/>
            <a:ext cx="4023360" cy="3611880"/>
          </a:xfrm>
          <a:prstGeom prst="roundRect">
            <a:avLst>
              <a:gd name="adj" fmla="val 2025"/>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5" name="Text 2"/>
          <p:cNvSpPr txBox="1"/>
          <p:nvPr/>
        </p:nvSpPr>
        <p:spPr>
          <a:xfrm>
            <a:off x="640080" y="1097280"/>
            <a:ext cx="3657600" cy="320040"/>
          </a:xfrm>
          <a:prstGeom prst="rect">
            <a:avLst/>
          </a:prstGeom>
          <a:noFill/>
          <a:ln/>
        </p:spPr>
        <p:txBody>
          <a:bodyPr wrap="square" lIns="0" tIns="0" rIns="0" bIns="0" rtlCol="0" anchor="t"/>
          <a:lstStyle/>
          <a:p>
            <a:pPr marL="0" indent="0">
              <a:buNone/>
            </a:pPr>
            <a:r>
              <a:rPr lang="en-US" sz="1700" b="1" dirty="0">
                <a:solidFill>
                  <a:srgbClr val="2563EB"/>
                </a:solidFill>
                <a:latin typeface="Calibri" pitchFamily="34" charset="0"/>
                <a:ea typeface="Calibri" pitchFamily="34" charset="-122"/>
                <a:cs typeface="Calibri" pitchFamily="34" charset="-120"/>
              </a:rPr>
              <a:t>Recommendations</a:t>
            </a:r>
            <a:endParaRPr lang="en-US" sz="1700" dirty="0"/>
          </a:p>
        </p:txBody>
      </p:sp>
      <p:sp>
        <p:nvSpPr>
          <p:cNvPr id="6" name="Text 3"/>
          <p:cNvSpPr txBox="1"/>
          <p:nvPr/>
        </p:nvSpPr>
        <p:spPr>
          <a:xfrm>
            <a:off x="640080" y="1508760"/>
            <a:ext cx="3657600" cy="30175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Investigate evening demand; review staffing and space</a:t>
            </a:r>
            <a:endParaRPr lang="en-US" sz="1400" dirty="0"/>
          </a:p>
          <a:p>
            <a:pPr marL="177800" indent="-1778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Review zone capacity and turnover before reallocating</a:t>
            </a:r>
            <a:endParaRPr lang="en-US" sz="1400" dirty="0"/>
          </a:p>
          <a:p>
            <a:pPr marL="177800" indent="-1778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Collect more frequent timestamped records</a:t>
            </a:r>
            <a:endParaRPr lang="en-US" sz="1400" dirty="0"/>
          </a:p>
          <a:p>
            <a:pPr marL="177800" indent="-1778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Improve validation of entry, exit, payment, capacity data</a:t>
            </a:r>
            <a:endParaRPr lang="en-US" sz="1400" dirty="0"/>
          </a:p>
          <a:p>
            <a:pPr marL="177800" indent="-1778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Build an occupancy-monitoring dataset</a:t>
            </a:r>
            <a:endParaRPr lang="en-US" sz="1400" dirty="0"/>
          </a:p>
        </p:txBody>
      </p:sp>
      <p:sp>
        <p:nvSpPr>
          <p:cNvPr id="7" name="Shape 4"/>
          <p:cNvSpPr/>
          <p:nvPr/>
        </p:nvSpPr>
        <p:spPr>
          <a:xfrm>
            <a:off x="4663440" y="1005840"/>
            <a:ext cx="4023360" cy="3611880"/>
          </a:xfrm>
          <a:prstGeom prst="roundRect">
            <a:avLst>
              <a:gd name="adj" fmla="val 2025"/>
            </a:avLst>
          </a:prstGeom>
          <a:solidFill>
            <a:srgbClr val="0F172A"/>
          </a:solidFill>
          <a:ln w="9525">
            <a:solidFill>
              <a:srgbClr val="0F172A"/>
            </a:solidFill>
            <a:prstDash val="solid"/>
          </a:ln>
        </p:spPr>
      </p:sp>
      <p:sp>
        <p:nvSpPr>
          <p:cNvPr id="8" name="Text 5"/>
          <p:cNvSpPr txBox="1"/>
          <p:nvPr/>
        </p:nvSpPr>
        <p:spPr>
          <a:xfrm>
            <a:off x="4846320" y="1097280"/>
            <a:ext cx="3657600" cy="320040"/>
          </a:xfrm>
          <a:prstGeom prst="rect">
            <a:avLst/>
          </a:prstGeom>
          <a:noFill/>
          <a:ln/>
        </p:spPr>
        <p:txBody>
          <a:bodyPr wrap="square" lIns="0" tIns="0" rIns="0" bIns="0" rtlCol="0" anchor="t"/>
          <a:lstStyle/>
          <a:p>
            <a:pPr marL="0" indent="0">
              <a:buNone/>
            </a:pPr>
            <a:r>
              <a:rPr lang="en-US" sz="1700" b="1" dirty="0">
                <a:solidFill>
                  <a:srgbClr val="06B6D4"/>
                </a:solidFill>
                <a:latin typeface="Calibri" pitchFamily="34" charset="0"/>
                <a:ea typeface="Calibri" pitchFamily="34" charset="-122"/>
                <a:cs typeface="Calibri" pitchFamily="34" charset="-120"/>
              </a:rPr>
              <a:t>Limitations</a:t>
            </a:r>
            <a:endParaRPr lang="en-US" sz="1700" dirty="0"/>
          </a:p>
        </p:txBody>
      </p:sp>
      <p:sp>
        <p:nvSpPr>
          <p:cNvPr id="9" name="Text 6"/>
          <p:cNvSpPr txBox="1"/>
          <p:nvPr/>
        </p:nvSpPr>
        <p:spPr>
          <a:xfrm>
            <a:off x="4846320" y="1508760"/>
            <a:ext cx="3657600" cy="30175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Data is synthetic</a:t>
            </a:r>
            <a:endParaRPr lang="en-US" sz="14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About one session per date limits daily-demand interpretation</a:t>
            </a:r>
            <a:endParaRPr lang="en-US" sz="14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Session counts are not concurrent occupancy</a:t>
            </a:r>
            <a:endParaRPr lang="en-US" sz="14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Event and weather counts are not causal evidence</a:t>
            </a:r>
            <a:endParaRPr lang="en-US" sz="14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No predictive model trained or evaluated</a:t>
            </a:r>
            <a:endParaRPr lang="en-US" sz="14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Calibri"/>
                <a:ea typeface="Calibri"/>
                <a:cs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28600"/>
            <a:ext cx="822960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Future Scope and Conclusion</a:t>
            </a:r>
            <a:endParaRPr lang="en-US" sz="3000" dirty="0"/>
          </a:p>
        </p:txBody>
      </p:sp>
      <p:sp>
        <p:nvSpPr>
          <p:cNvPr id="4" name="Text 1"/>
          <p:cNvSpPr txBox="1"/>
          <p:nvPr/>
        </p:nvSpPr>
        <p:spPr>
          <a:xfrm>
            <a:off x="457200" y="960120"/>
            <a:ext cx="4023360" cy="320040"/>
          </a:xfrm>
          <a:prstGeom prst="rect">
            <a:avLst/>
          </a:prstGeom>
          <a:noFill/>
          <a:ln/>
        </p:spPr>
        <p:txBody>
          <a:bodyPr wrap="square" lIns="0" tIns="0" rIns="0" bIns="0" rtlCol="0" anchor="t"/>
          <a:lstStyle/>
          <a:p>
            <a:pPr marL="0" indent="0">
              <a:buNone/>
            </a:pPr>
            <a:r>
              <a:rPr lang="en-US" sz="1700" b="1" dirty="0">
                <a:solidFill>
                  <a:srgbClr val="2563EB"/>
                </a:solidFill>
                <a:latin typeface="Calibri" pitchFamily="34" charset="0"/>
                <a:ea typeface="Calibri" pitchFamily="34" charset="-122"/>
                <a:cs typeface="Calibri" pitchFamily="34" charset="-120"/>
              </a:rPr>
              <a:t>Future scope</a:t>
            </a:r>
            <a:endParaRPr lang="en-US" sz="1700" dirty="0"/>
          </a:p>
        </p:txBody>
      </p:sp>
      <p:sp>
        <p:nvSpPr>
          <p:cNvPr id="5" name="Text 2"/>
          <p:cNvSpPr txBox="1"/>
          <p:nvPr/>
        </p:nvSpPr>
        <p:spPr>
          <a:xfrm>
            <a:off x="457200" y="1325880"/>
            <a:ext cx="4023360" cy="21945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Compute concurrent occupancy from entry and exit times</a:t>
            </a:r>
            <a:endParaRPr lang="en-US" sz="1400" dirty="0"/>
          </a:p>
          <a:p>
            <a:pPr marL="177800" indent="-1778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Collect real sessions at finer time intervals</a:t>
            </a:r>
            <a:endParaRPr lang="en-US" sz="1400" dirty="0"/>
          </a:p>
          <a:p>
            <a:pPr marL="177800" indent="-1778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Train a model once reliable occupancy labels exist</a:t>
            </a:r>
            <a:endParaRPr lang="en-US" sz="1400" dirty="0"/>
          </a:p>
          <a:p>
            <a:pPr marL="177800" indent="-1778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Build an interactive dashboard with data refresh</a:t>
            </a:r>
            <a:endParaRPr lang="en-US" sz="1400" dirty="0"/>
          </a:p>
        </p:txBody>
      </p:sp>
      <p:sp>
        <p:nvSpPr>
          <p:cNvPr id="6" name="Shape 3"/>
          <p:cNvSpPr/>
          <p:nvPr/>
        </p:nvSpPr>
        <p:spPr>
          <a:xfrm>
            <a:off x="4663440" y="960120"/>
            <a:ext cx="4023360" cy="2560320"/>
          </a:xfrm>
          <a:prstGeom prst="roundRect">
            <a:avLst>
              <a:gd name="adj" fmla="val 2857"/>
            </a:avLst>
          </a:prstGeom>
          <a:solidFill>
            <a:srgbClr val="FFFFFF"/>
          </a:solidFill>
          <a:ln w="9525">
            <a:solidFill>
              <a:srgbClr val="E2E8F0"/>
            </a:solidFill>
            <a:prstDash val="solid"/>
          </a:ln>
          <a:effectLst>
            <a:outerShdw blurRad="76200" dist="25400" dir="5400000" algn="bl" rotWithShape="0">
              <a:srgbClr val="94A3B8">
                <a:alpha val="30000"/>
              </a:srgbClr>
            </a:outerShdw>
          </a:effectLst>
        </p:spPr>
      </p:sp>
      <p:sp>
        <p:nvSpPr>
          <p:cNvPr id="7" name="Text 4"/>
          <p:cNvSpPr txBox="1"/>
          <p:nvPr/>
        </p:nvSpPr>
        <p:spPr>
          <a:xfrm>
            <a:off x="4846320" y="1051560"/>
            <a:ext cx="3108960" cy="27432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Proposed: Random Forest Regressor</a:t>
            </a:r>
            <a:endParaRPr lang="en-US" sz="1500" dirty="0"/>
          </a:p>
        </p:txBody>
      </p:sp>
      <p:sp>
        <p:nvSpPr>
          <p:cNvPr id="8" name="Text 5"/>
          <p:cNvSpPr txBox="1"/>
          <p:nvPr/>
        </p:nvSpPr>
        <p:spPr>
          <a:xfrm>
            <a:off x="4846320" y="1417320"/>
            <a:ext cx="3657600" cy="1371600"/>
          </a:xfrm>
          <a:prstGeom prst="rect">
            <a:avLst/>
          </a:prstGeom>
          <a:noFill/>
          <a:ln/>
        </p:spPr>
        <p:txBody>
          <a:bodyPr wrap="square" lIns="0" tIns="0" rIns="0" bIns="0" rtlCol="0" anchor="t"/>
          <a:lstStyle/>
          <a:p>
            <a:pPr marL="0" indent="0">
              <a:spcAft>
                <a:spcPts val="400"/>
              </a:spcAft>
              <a:buNone/>
            </a:pPr>
            <a:r>
              <a:rPr lang="en-US" sz="1200" b="1" dirty="0">
                <a:solidFill>
                  <a:srgbClr val="0F172A"/>
                </a:solidFill>
                <a:latin typeface="Calibri" pitchFamily="34" charset="0"/>
                <a:ea typeface="Calibri" pitchFamily="34" charset="-122"/>
                <a:cs typeface="Calibri" pitchFamily="34" charset="-120"/>
              </a:rPr>
              <a:t>Inputs: </a:t>
            </a:r>
            <a:r>
              <a:rPr lang="en-US" sz="1200" dirty="0">
                <a:solidFill>
                  <a:srgbClr val="0F172A"/>
                </a:solidFill>
                <a:latin typeface="Calibri" pitchFamily="34" charset="0"/>
                <a:ea typeface="Calibri" pitchFamily="34" charset="-122"/>
                <a:cs typeface="Calibri" pitchFamily="34" charset="-120"/>
              </a:rPr>
              <a:t>zone, capacity, hour, weekday, history, event, holiday, rain, temperature</a:t>
            </a:r>
            <a:endParaRPr lang="en-US" sz="1200" dirty="0"/>
          </a:p>
          <a:p>
            <a:pPr marL="0" indent="0">
              <a:spcAft>
                <a:spcPts val="400"/>
              </a:spcAft>
              <a:buNone/>
            </a:pPr>
            <a:r>
              <a:rPr lang="en-US" sz="1200" b="1" dirty="0">
                <a:solidFill>
                  <a:srgbClr val="0F172A"/>
                </a:solidFill>
                <a:latin typeface="Calibri" pitchFamily="34" charset="0"/>
                <a:ea typeface="Calibri" pitchFamily="34" charset="-122"/>
                <a:cs typeface="Calibri" pitchFamily="34" charset="-120"/>
              </a:rPr>
              <a:t>Target: </a:t>
            </a:r>
            <a:r>
              <a:rPr lang="en-US" sz="1200" dirty="0">
                <a:solidFill>
                  <a:srgbClr val="0F172A"/>
                </a:solidFill>
                <a:latin typeface="Calibri" pitchFamily="34" charset="0"/>
                <a:ea typeface="Calibri" pitchFamily="34" charset="-122"/>
                <a:cs typeface="Calibri" pitchFamily="34" charset="-120"/>
              </a:rPr>
              <a:t>vehicles in a zone at a given time</a:t>
            </a:r>
            <a:endParaRPr lang="en-US" sz="1200" dirty="0"/>
          </a:p>
          <a:p>
            <a:pPr marL="0" indent="0">
              <a:spcAft>
                <a:spcPts val="400"/>
              </a:spcAft>
              <a:buNone/>
            </a:pPr>
            <a:r>
              <a:rPr lang="en-US" sz="1200" b="1" dirty="0">
                <a:solidFill>
                  <a:srgbClr val="0F172A"/>
                </a:solidFill>
                <a:latin typeface="Calibri" pitchFamily="34" charset="0"/>
                <a:ea typeface="Calibri" pitchFamily="34" charset="-122"/>
                <a:cs typeface="Calibri" pitchFamily="34" charset="-120"/>
              </a:rPr>
              <a:t>Metrics: </a:t>
            </a:r>
            <a:r>
              <a:rPr lang="en-US" sz="1200" dirty="0">
                <a:solidFill>
                  <a:srgbClr val="0F172A"/>
                </a:solidFill>
                <a:latin typeface="Calibri" pitchFamily="34" charset="0"/>
                <a:ea typeface="Calibri" pitchFamily="34" charset="-122"/>
                <a:cs typeface="Calibri" pitchFamily="34" charset="-120"/>
              </a:rPr>
              <a:t>R², RMSE, MAE</a:t>
            </a:r>
            <a:endParaRPr lang="en-US" sz="1200" dirty="0"/>
          </a:p>
        </p:txBody>
      </p:sp>
      <p:sp>
        <p:nvSpPr>
          <p:cNvPr id="9" name="Shape 6"/>
          <p:cNvSpPr/>
          <p:nvPr/>
        </p:nvSpPr>
        <p:spPr>
          <a:xfrm>
            <a:off x="4846320" y="3017520"/>
            <a:ext cx="2560320" cy="310896"/>
          </a:xfrm>
          <a:prstGeom prst="roundRect">
            <a:avLst>
              <a:gd name="adj" fmla="val 50000"/>
            </a:avLst>
          </a:prstGeom>
          <a:solidFill>
            <a:srgbClr val="D97706"/>
          </a:solidFill>
          <a:ln w="12700">
            <a:solidFill>
              <a:srgbClr val="D97706"/>
            </a:solidFill>
            <a:prstDash val="solid"/>
          </a:ln>
        </p:spPr>
      </p:sp>
      <p:sp>
        <p:nvSpPr>
          <p:cNvPr id="10" name="Text 7"/>
          <p:cNvSpPr txBox="1"/>
          <p:nvPr/>
        </p:nvSpPr>
        <p:spPr>
          <a:xfrm>
            <a:off x="4846320" y="3017520"/>
            <a:ext cx="256032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PROPOSED, NOT YET TRAINED</a:t>
            </a:r>
            <a:endParaRPr lang="en-US" sz="1200" dirty="0"/>
          </a:p>
        </p:txBody>
      </p:sp>
      <p:sp>
        <p:nvSpPr>
          <p:cNvPr id="11" name="Shape 8"/>
          <p:cNvSpPr/>
          <p:nvPr/>
        </p:nvSpPr>
        <p:spPr>
          <a:xfrm>
            <a:off x="457200" y="3703320"/>
            <a:ext cx="8229600" cy="960120"/>
          </a:xfrm>
          <a:prstGeom prst="roundRect">
            <a:avLst>
              <a:gd name="adj" fmla="val 7619"/>
            </a:avLst>
          </a:prstGeom>
          <a:solidFill>
            <a:srgbClr val="0F172A"/>
          </a:solidFill>
          <a:ln w="9525">
            <a:solidFill>
              <a:srgbClr val="0F172A"/>
            </a:solidFill>
            <a:prstDash val="solid"/>
          </a:ln>
        </p:spPr>
      </p:sp>
      <p:sp>
        <p:nvSpPr>
          <p:cNvPr id="12" name="Text 9"/>
          <p:cNvSpPr txBox="1"/>
          <p:nvPr/>
        </p:nvSpPr>
        <p:spPr>
          <a:xfrm>
            <a:off x="640080" y="3749040"/>
            <a:ext cx="7863840" cy="868680"/>
          </a:xfrm>
          <a:prstGeom prst="rect">
            <a:avLst/>
          </a:prstGeom>
          <a:noFill/>
          <a:ln/>
        </p:spPr>
        <p:txBody>
          <a:bodyPr wrap="square" lIns="0" tIns="0" rIns="0" bIns="0" rtlCol="0" anchor="ctr"/>
          <a:lstStyle/>
          <a:p>
            <a:pPr marL="0" indent="0">
              <a:buNone/>
            </a:pPr>
            <a:r>
              <a:rPr lang="en-US" sz="1300" b="1" dirty="0">
                <a:solidFill>
                  <a:srgbClr val="06B6D4"/>
                </a:solidFill>
                <a:latin typeface="Calibri" pitchFamily="34" charset="0"/>
                <a:ea typeface="Calibri" pitchFamily="34" charset="-122"/>
                <a:cs typeface="Calibri" pitchFamily="34" charset="-120"/>
              </a:rPr>
              <a:t>Conclusion: </a:t>
            </a:r>
            <a:r>
              <a:rPr lang="en-US" sz="1300" dirty="0">
                <a:solidFill>
                  <a:srgbClr val="FFFFFF"/>
                </a:solidFill>
                <a:latin typeface="Calibri" pitchFamily="34" charset="0"/>
                <a:ea typeface="Calibri" pitchFamily="34" charset="-122"/>
                <a:cs typeface="Calibri" pitchFamily="34" charset="-120"/>
              </a:rPr>
              <a:t>A practical workflow for cleaning, exploring and visualising parking records, with preliminary recommendations. Reliable occupancy prediction is a future enhancement.</a:t>
            </a:r>
            <a:endParaRPr lang="en-US" sz="13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latin typeface="Calibri"/>
                <a:ea typeface="Calibri"/>
                <a:cs typeface="Calibri"/>
              </a:defRPr>
            </a:lvl1pPr>
          </a:lstStyle>
          <a:p>
            <a:pPr algn="l"/>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1091</Words>
  <Application>Microsoft Office PowerPoint</Application>
  <PresentationFormat>On-screen Show (16:9)</PresentationFormat>
  <Paragraphs>218</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Parking Utilization Insight</dc:title>
  <dc:subject>PptxGenJS Presentation</dc:subject>
  <dc:creator>PptxGenJS</dc:creator>
  <cp:lastModifiedBy>Rukshana S</cp:lastModifiedBy>
  <cp:revision>2</cp:revision>
  <dcterms:created xsi:type="dcterms:W3CDTF">2026-10-12T09:08:07Z</dcterms:created>
  <dcterms:modified xsi:type="dcterms:W3CDTF">2026-10-12T09:11:20Z</dcterms:modified>
</cp:coreProperties>
</file>